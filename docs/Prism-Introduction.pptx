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00660f118443be" /><Relationship Type="http://schemas.openxmlformats.org/officeDocument/2006/relationships/extended-properties" Target="/docProps/app.xml" Id="Re4f2ebdccad6411d" /><Relationship Type="http://schemas.openxmlformats.org/officeDocument/2006/relationships/officeDocument" Target="/ppt/presentation.xml" Id="R4e763d8ae2334054" /></Relationships>
</file>

<file path=ppt/presentation.xml><?xml version="1.0" encoding="utf-8"?>
<p:presentation xmlns:p="http://schemas.openxmlformats.org/presentationml/2006/main">
  <p:sldMasterIdLst>
    <p:sldMasterId xmlns:r="http://schemas.openxmlformats.org/officeDocument/2006/relationships" id="2147483648" r:id="Rcc1a760a4666491c"/>
  </p:sldMasterIdLst>
  <p:notesMasterIdLst>
    <p:notesMasterId xmlns:r="http://schemas.openxmlformats.org/officeDocument/2006/relationships" r:id="R6865996375464235"/>
  </p:notesMasterIdLst>
  <p:sldIdLst>
    <p:sldId xmlns:r="http://schemas.openxmlformats.org/officeDocument/2006/relationships" id="256" r:id="Rcd3cad99104e4dd7"/>
    <p:sldId xmlns:r="http://schemas.openxmlformats.org/officeDocument/2006/relationships" id="257" r:id="Rd2c363007ceb4775"/>
    <p:sldId xmlns:r="http://schemas.openxmlformats.org/officeDocument/2006/relationships" id="258" r:id="R301696bd72ec4f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5c0c4322b74998" /><Relationship Type="http://schemas.openxmlformats.org/officeDocument/2006/relationships/slideMaster" Target="/ppt/slideMasters/slideMaster1.xml" Id="Rcc1a760a4666491c" /><Relationship Type="http://schemas.openxmlformats.org/officeDocument/2006/relationships/notesMaster" Target="/ppt/notesMasters/notesMaster1.xml" Id="R6865996375464235" /><Relationship Type="http://schemas.openxmlformats.org/officeDocument/2006/relationships/presProps" Target="/ppt/presProps.xml" Id="R2a635677c66c494e" /><Relationship Type="http://schemas.openxmlformats.org/officeDocument/2006/relationships/tableStyles" Target="/ppt/tableStyles.xml" Id="R431ad406fe1f41d8" /><Relationship Type="http://schemas.openxmlformats.org/officeDocument/2006/relationships/slide" Target="/ppt/slides/slide1.xml" Id="Rcd3cad99104e4dd7" /><Relationship Type="http://schemas.openxmlformats.org/officeDocument/2006/relationships/slide" Target="/ppt/slides/slide2.xml" Id="Rd2c363007ceb4775" /><Relationship Type="http://schemas.openxmlformats.org/officeDocument/2006/relationships/slide" Target="/ppt/slides/slide3.xml" Id="R301696bd72ec4f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f14f57265f48c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4a7d889e0a4185" /><Relationship Type="http://schemas.openxmlformats.org/officeDocument/2006/relationships/notesMaster" Target="/ppt/notesMasters/notesMaster1.xml" Id="R411e52b353334d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98a97b9fe64626" /><Relationship Type="http://schemas.openxmlformats.org/officeDocument/2006/relationships/notesMaster" Target="/ppt/notesMasters/notesMaster1.xml" Id="R8a8bda1af86042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5ac3a18db94e09" /><Relationship Type="http://schemas.openxmlformats.org/officeDocument/2006/relationships/notesMaster" Target="/ppt/notesMasters/notesMaster1.xml" Id="R8b644957c37c441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Hello everyone. My Week One project is Prism, a local web application that helps marketing analysts check claims about campaign performance.</a:t>
            </a:r>
          </a:p>
          <a:p xmlns:a="http://schemas.openxmlformats.org/drawingml/2006/main">
            <a:r>
              <a:t/>
            </a:r>
          </a:p>
          <a:p xmlns:a="http://schemas.openxmlformats.org/drawingml/2006/main">
            <a:r>
              <a:t>The problem is that an overall conversion rate can improve even when individual customer groups perform worse. If a team relies only on that average, it may increase its budget without understanding what changed.</a:t>
            </a:r>
          </a:p>
          <a:p xmlns:a="http://schemas.openxmlformats.org/drawingml/2006/main">
            <a:r>
              <a:t/>
            </a:r>
          </a:p>
          <a:p xmlns:a="http://schemas.openxmlformats.org/drawingml/2006/main">
            <a:r>
              <a:t>Prism compares the overall result with each customer group, shows changes in audience mix, and explains whether a selected claim is supported by the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story behind the demo. A marketing manager sees conversion rise from 20 percent to 45.6 percent and considers increasing the budget.</a:t>
            </a:r>
          </a:p>
          <a:p xmlns:a="http://schemas.openxmlformats.org/drawingml/2006/main">
            <a:r>
              <a:t/>
            </a:r>
          </a:p>
          <a:p xmlns:a="http://schemas.openxmlformats.org/drawingml/2006/main">
            <a:r>
              <a:t>But in our synthetic dataset, new customers fall from 10 to 8 percent, and returning customers fall from 60 to 55 percent. Both groups decline.</a:t>
            </a:r>
          </a:p>
          <a:p xmlns:a="http://schemas.openxmlformats.org/drawingml/2006/main">
            <a:r>
              <a:t/>
            </a:r>
          </a:p>
          <a:p xmlns:a="http://schemas.openxmlformats.org/drawingml/2006/main">
            <a:r>
              <a:t>The audience has shifted toward returning customers, who already convert more often. So the overall increase is real, but it does not mean every group improved or that the campaign caused the change. Prism makes that distinction visible.</a:t>
            </a:r>
          </a:p>
          <a:p xmlns:a="http://schemas.openxmlformats.org/drawingml/2006/main">
            <a:r>
              <a:t/>
            </a:r>
          </a:p>
          <a:p xmlns:a="http://schemas.openxmlformats.org/drawingml/2006/main">
            <a:r>
              <a:t>Data: Prism-Campaign-Test.csv, synthetic demonstration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Prism runs entirely in the browser. A CSV or sample dataset enters validation, then the app calculates overall rates, group rates, and a comparison that holds the audience mix constant.</a:t>
            </a:r>
          </a:p>
          <a:p xmlns:a="http://schemas.openxmlformats.org/drawingml/2006/main">
            <a:r>
              <a:t/>
            </a:r>
          </a:p>
          <a:p xmlns:a="http://schemas.openxmlformats.org/drawingml/2006/main">
            <a:r>
              <a:t>Explicit rules check the selected claim, and the interface shows the evidence. Sandbox edits reuse those calculations. The evaluation page checks the rules against twelve fixed reference cases.</a:t>
            </a:r>
          </a:p>
          <a:p xmlns:a="http://schemas.openxmlformats.org/drawingml/2006/main">
            <a:r>
              <a:t/>
            </a:r>
          </a:p>
          <a:p xmlns:a="http://schemas.openxmlformats.org/drawingml/2006/main">
            <a:r>
              <a:t>I used Codex to help build and refine the application. It needs no paid APIs, and its answers come from calculations rather than a live AI model.</a:t>
            </a:r>
          </a:p>
          <a:p xmlns:a="http://schemas.openxmlformats.org/drawingml/2006/main">
            <a:r>
              <a:t/>
            </a:r>
          </a:p>
          <a:p xmlns:a="http://schemas.openxmlformats.org/drawingml/2006/main">
            <a:r>
              <a:t>Now I will show you the investigation, change the inputs, and test the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71a6aee7a8e416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33effb57cc4a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de8aeb6ef145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885392432524f3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8d12d823cf4c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125ea38fe3842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BB864C-5582-4D5A-B07C-901D57C0762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7D47BE1-24F5-45D2-A265-FF878F5F49E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AF187EF-B2CD-454D-B1C4-4DA4E78644D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7B5220D-C35E-4F59-8F96-43F671BD36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C2656FF-AC12-49DA-98E5-E97F1CCAC15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5366B3-9A62-4EDF-ABE3-D3278A71DD6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BC37C2-5754-4795-825D-FC1B113CFA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14B9117-7F10-40C8-959B-0C5CB6B8551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6BE4C5-6637-4F3A-8E7F-6512FF4110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818177-C2EF-47D7-8765-F5BAB359DC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8526daa83846b1" /><Relationship Type="http://schemas.openxmlformats.org/officeDocument/2006/relationships/slideLayout" Target="/ppt/slideLayouts/slideLayout1.xml" Id="R6535a694ed2e45a8" /><Relationship Type="http://schemas.openxmlformats.org/officeDocument/2006/relationships/slideLayout" Target="/ppt/slideLayouts/slideLayout2.xml" Id="R9c798e11b8504cbb" /><Relationship Type="http://schemas.openxmlformats.org/officeDocument/2006/relationships/slideLayout" Target="/ppt/slideLayouts/slideLayout3.xml" Id="Red242cb8cbb343f2" /><Relationship Type="http://schemas.openxmlformats.org/officeDocument/2006/relationships/slideLayout" Target="/ppt/slideLayouts/slideLayout4.xml" Id="Rd4e0c462d08445a1" /><Relationship Type="http://schemas.openxmlformats.org/officeDocument/2006/relationships/slideLayout" Target="/ppt/slideLayouts/slideLayout5.xml" Id="R3ef1eb2ea0fa4700" /><Relationship Type="http://schemas.openxmlformats.org/officeDocument/2006/relationships/slideLayout" Target="/ppt/slideLayouts/slideLayout6.xml" Id="R919828facd154b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35a694ed2e45a8"/>
    <p:sldLayoutId xmlns:r="http://schemas.openxmlformats.org/officeDocument/2006/relationships" id="2147483650" r:id="R9c798e11b8504cbb"/>
    <p:sldLayoutId xmlns:r="http://schemas.openxmlformats.org/officeDocument/2006/relationships" id="2147483651" r:id="Red242cb8cbb343f2"/>
    <p:sldLayoutId xmlns:r="http://schemas.openxmlformats.org/officeDocument/2006/relationships" id="2147483652" r:id="Rd4e0c462d08445a1"/>
    <p:sldLayoutId xmlns:r="http://schemas.openxmlformats.org/officeDocument/2006/relationships" id="2147483653" r:id="R3ef1eb2ea0fa4700"/>
    <p:sldLayoutId xmlns:r="http://schemas.openxmlformats.org/officeDocument/2006/relationships" id="2147483654" r:id="R919828facd154b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f7f992425764b96" /><Relationship Type="http://schemas.openxmlformats.org/officeDocument/2006/relationships/notesSlide" Target="/ppt/notesSlides/notesSlide1.xml" Id="R9ad916d20e8c44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647963a2f94b29" /><Relationship Type="http://schemas.openxmlformats.org/officeDocument/2006/relationships/notesSlide" Target="/ppt/notesSlides/notesSlide2.xml" Id="R789af312dba847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0af27b3889d44aa" /><Relationship Type="http://schemas.openxmlformats.org/officeDocument/2006/relationships/notesSlide" Target="/ppt/notesSlides/notesSlide3.xml" Id="Ra3db7322c5ab47f0" /></Relationships>
</file>

<file path=ppt/slides/slide1.xml><?xml version="1.0" encoding="utf-8"?>
<p:sld xmlns:p="http://schemas.openxmlformats.org/presentationml/2006/main">
  <p:cSld>
    <p:bg>
      <p:bgPr>
        <a:solidFill xmlns:a="http://schemas.openxmlformats.org/drawingml/2006/main">
          <a:srgbClr val="24312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2E220F-D225-493C-9CAB-CAFB290E2E51}"/>
              </a:ext>
            </a:extLst>
          </p:cNvPr>
          <p:cNvSpPr>
            <a:spLocks xmlns:a="http://schemas.openxmlformats.org/drawingml/2006/main" noGrp="1"/>
          </p:cNvSpPr>
          <p:nvPr/>
        </p:nvSpPr>
        <p:spPr>
          <a:xfrm xmlns:a="http://schemas.openxmlformats.org/drawingml/2006/main">
            <a:off x="685800" y="55245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7F8F2"/>
                </a:solidFill>
                <a:latin typeface="Helvetica Neue"/>
                <a:ea typeface="Helvetica Neue"/>
                <a:cs typeface="Helvetica Neue"/>
              </a:defRPr>
            </a:defPPr>
          </a:lstStyle>
          <a:p xmlns:a="http://schemas.openxmlformats.org/drawingml/2006/main">
            <a:pPr>
              <a:defRPr sz="3600" b="1">
                <a:solidFill>
                  <a:srgbClr val="F7F8F2"/>
                </a:solidFill>
                <a:latin typeface="Helvetica Neue"/>
                <a:ea typeface="Helvetica Neue"/>
                <a:cs typeface="Helvetica Neue"/>
              </a:defRPr>
            </a:pPr>
            <a:r>
              <a:rPr sz="3600" b="1">
                <a:solidFill>
                  <a:srgbClr val="F7F8F2"/>
                </a:solidFill>
                <a:latin typeface="Helvetica Neue"/>
                <a:ea typeface="Helvetica Neue"/>
                <a:cs typeface="Helvetica Neue"/>
              </a:rPr>
              <a:t>Prism and the problem it solves</a:t>
            </a:r>
          </a:p>
        </p:txBody>
      </p:sp>
      <p:sp>
        <p:nvSpPr>
          <p:cNvPr id="2" name="">
            <a:extLst xmlns:a="http://schemas.openxmlformats.org/drawingml/2006/main">
              <a:ext uri="{FF2B5EF4-FFF2-40B4-BE49-F238E27FC236}">
                <a16:creationId xmlns:a16="http://schemas.microsoft.com/office/drawing/2014/main" id="{EE2D644A-BEFC-45AD-A6EA-FBAFCF32102D}"/>
              </a:ext>
            </a:extLst>
          </p:cNvPr>
          <p:cNvSpPr>
            <a:spLocks xmlns:a="http://schemas.openxmlformats.org/drawingml/2006/main" noGrp="1"/>
          </p:cNvSpPr>
          <p:nvPr/>
        </p:nvSpPr>
        <p:spPr>
          <a:xfrm xmlns:a="http://schemas.openxmlformats.org/drawingml/2006/main">
            <a:off x="685800" y="63246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D5EFA2"/>
                </a:solidFill>
                <a:latin typeface="Helvetica Neue"/>
                <a:ea typeface="Helvetica Neue"/>
                <a:cs typeface="Helvetica Neue"/>
              </a:defRPr>
            </a:defPPr>
          </a:lstStyle>
          <a:p xmlns:a="http://schemas.openxmlformats.org/drawingml/2006/main">
            <a:pPr>
              <a:defRPr sz="1350" b="0">
                <a:solidFill>
                  <a:srgbClr val="D5EFA2"/>
                </a:solidFill>
                <a:latin typeface="Helvetica Neue"/>
                <a:ea typeface="Helvetica Neue"/>
                <a:cs typeface="Helvetica Neue"/>
              </a:defRPr>
            </a:pPr>
            <a:r>
              <a:rPr sz="1350" b="0">
                <a:solidFill>
                  <a:srgbClr val="D5EFA2"/>
                </a:solidFill>
                <a:latin typeface="Helvetica Neue"/>
                <a:ea typeface="Helvetica Neue"/>
                <a:cs typeface="Helvetica Neue"/>
              </a:rPr>
              <a:t>PRISM   /   01</a:t>
            </a:r>
          </a:p>
        </p:txBody>
      </p:sp>
      <p:sp>
        <p:nvSpPr>
          <p:cNvPr id="3" name="">
            <a:extLst xmlns:a="http://schemas.openxmlformats.org/drawingml/2006/main">
              <a:ext uri="{FF2B5EF4-FFF2-40B4-BE49-F238E27FC236}">
                <a16:creationId xmlns:a16="http://schemas.microsoft.com/office/drawing/2014/main" id="{06EE6EF8-AFCB-4844-BDBF-D1C387003C47}"/>
              </a:ext>
            </a:extLst>
          </p:cNvPr>
          <p:cNvSpPr>
            <a:spLocks xmlns:a="http://schemas.openxmlformats.org/drawingml/2006/main" noGrp="1"/>
          </p:cNvSpPr>
          <p:nvPr/>
        </p:nvSpPr>
        <p:spPr>
          <a:xfrm xmlns:a="http://schemas.openxmlformats.org/drawingml/2006/main">
            <a:off x="685800" y="1733550"/>
            <a:ext cx="10382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D5EFA2"/>
                </a:solidFill>
                <a:latin typeface="Helvetica Neue"/>
                <a:ea typeface="Helvetica Neue"/>
                <a:cs typeface="Helvetica Neue"/>
              </a:defRPr>
            </a:defPPr>
          </a:lstStyle>
          <a:p xmlns:a="http://schemas.openxmlformats.org/drawingml/2006/main">
            <a:pPr>
              <a:defRPr sz="3300" b="1">
                <a:solidFill>
                  <a:srgbClr val="D5EFA2"/>
                </a:solidFill>
                <a:latin typeface="Helvetica Neue"/>
                <a:ea typeface="Helvetica Neue"/>
                <a:cs typeface="Helvetica Neue"/>
              </a:defRPr>
            </a:pPr>
            <a:r>
              <a:rPr sz="3300" b="1">
                <a:solidFill>
                  <a:srgbClr val="D5EFA2"/>
                </a:solidFill>
                <a:latin typeface="Helvetica Neue"/>
                <a:ea typeface="Helvetica Neue"/>
                <a:cs typeface="Helvetica Neue"/>
              </a:rPr>
              <a:t>A local web app for checking</a:t>
            </a:r>
          </a:p>
          <a:p xmlns:a="http://schemas.openxmlformats.org/drawingml/2006/main">
            <a:pPr>
              <a:defRPr sz="3300" b="1">
                <a:solidFill>
                  <a:srgbClr val="D5EFA2"/>
                </a:solidFill>
                <a:latin typeface="Helvetica Neue"/>
                <a:ea typeface="Helvetica Neue"/>
                <a:cs typeface="Helvetica Neue"/>
              </a:defRPr>
            </a:pPr>
            <a:r>
              <a:rPr sz="3300" b="1">
                <a:solidFill>
                  <a:srgbClr val="D5EFA2"/>
                </a:solidFill>
                <a:latin typeface="Helvetica Neue"/>
                <a:ea typeface="Helvetica Neue"/>
                <a:cs typeface="Helvetica Neue"/>
              </a:rPr>
              <a:t>marketing performance claims</a:t>
            </a:r>
          </a:p>
        </p:txBody>
      </p:sp>
      <p:sp>
        <p:nvSpPr>
          <p:cNvPr id="4" name="">
            <a:extLst xmlns:a="http://schemas.openxmlformats.org/drawingml/2006/main">
              <a:ext uri="{FF2B5EF4-FFF2-40B4-BE49-F238E27FC236}">
                <a16:creationId xmlns:a16="http://schemas.microsoft.com/office/drawing/2014/main" id="{476A4463-B1BD-4828-B303-C7C2821ED7BE}"/>
              </a:ext>
            </a:extLst>
          </p:cNvPr>
          <p:cNvSpPr>
            <a:spLocks xmlns:a="http://schemas.openxmlformats.org/drawingml/2006/main" noGrp="1"/>
          </p:cNvSpPr>
          <p:nvPr/>
        </p:nvSpPr>
        <p:spPr>
          <a:xfrm xmlns:a="http://schemas.openxmlformats.org/drawingml/2006/main">
            <a:off x="685800" y="34099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D5EFA2"/>
                </a:solidFill>
                <a:latin typeface="Helvetica Neue"/>
                <a:ea typeface="Helvetica Neue"/>
                <a:cs typeface="Helvetica Neue"/>
              </a:defRPr>
            </a:defPPr>
          </a:lstStyle>
          <a:p xmlns:a="http://schemas.openxmlformats.org/drawingml/2006/main">
            <a:pPr>
              <a:defRPr sz="1950" b="1">
                <a:solidFill>
                  <a:srgbClr val="D5EFA2"/>
                </a:solidFill>
                <a:latin typeface="Helvetica Neue"/>
                <a:ea typeface="Helvetica Neue"/>
                <a:cs typeface="Helvetica Neue"/>
              </a:defRPr>
            </a:pPr>
            <a:r>
              <a:rPr sz="1950" b="1">
                <a:solidFill>
                  <a:srgbClr val="D5EFA2"/>
                </a:solidFill>
                <a:latin typeface="Helvetica Neue"/>
                <a:ea typeface="Helvetica Neue"/>
                <a:cs typeface="Helvetica Neue"/>
              </a:rPr>
              <a:t>The problem</a:t>
            </a:r>
          </a:p>
        </p:txBody>
      </p:sp>
      <p:sp>
        <p:nvSpPr>
          <p:cNvPr id="5" name="">
            <a:extLst xmlns:a="http://schemas.openxmlformats.org/drawingml/2006/main">
              <a:ext uri="{FF2B5EF4-FFF2-40B4-BE49-F238E27FC236}">
                <a16:creationId xmlns:a16="http://schemas.microsoft.com/office/drawing/2014/main" id="{6F6A34E0-331F-4C8C-93C5-CCCC81256558}"/>
              </a:ext>
            </a:extLst>
          </p:cNvPr>
          <p:cNvSpPr>
            <a:spLocks xmlns:a="http://schemas.openxmlformats.org/drawingml/2006/main" noGrp="1"/>
          </p:cNvSpPr>
          <p:nvPr/>
        </p:nvSpPr>
        <p:spPr>
          <a:xfrm xmlns:a="http://schemas.openxmlformats.org/drawingml/2006/main">
            <a:off x="685800" y="39338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7F8F2"/>
                </a:solidFill>
                <a:latin typeface="Helvetica Neue"/>
                <a:ea typeface="Helvetica Neue"/>
                <a:cs typeface="Helvetica Neue"/>
              </a:defRPr>
            </a:defPPr>
          </a:lstStyle>
          <a:p xmlns:a="http://schemas.openxmlformats.org/drawingml/2006/main">
            <a:pPr>
              <a:defRPr sz="2550" b="0">
                <a:solidFill>
                  <a:srgbClr val="F7F8F2"/>
                </a:solidFill>
                <a:latin typeface="Helvetica Neue"/>
                <a:ea typeface="Helvetica Neue"/>
                <a:cs typeface="Helvetica Neue"/>
              </a:defRPr>
            </a:pPr>
            <a:r>
              <a:rPr sz="2550" b="0">
                <a:solidFill>
                  <a:srgbClr val="F7F8F2"/>
                </a:solidFill>
                <a:latin typeface="Helvetica Neue"/>
                <a:ea typeface="Helvetica Neue"/>
                <a:cs typeface="Helvetica Neue"/>
              </a:rPr>
              <a:t>An overall average can hide declining results</a:t>
            </a:r>
          </a:p>
          <a:p xmlns:a="http://schemas.openxmlformats.org/drawingml/2006/main">
            <a:pPr>
              <a:defRPr sz="2550" b="0">
                <a:solidFill>
                  <a:srgbClr val="F7F8F2"/>
                </a:solidFill>
                <a:latin typeface="Helvetica Neue"/>
                <a:ea typeface="Helvetica Neue"/>
                <a:cs typeface="Helvetica Neue"/>
              </a:defRPr>
            </a:pPr>
            <a:r>
              <a:rPr sz="2550" b="0">
                <a:solidFill>
                  <a:srgbClr val="F7F8F2"/>
                </a:solidFill>
                <a:latin typeface="Helvetica Neue"/>
                <a:ea typeface="Helvetica Neue"/>
                <a:cs typeface="Helvetica Neue"/>
              </a:rPr>
              <a:t>within individual customer groups.</a:t>
            </a:r>
          </a:p>
        </p:txBody>
      </p:sp>
      <p:sp>
        <p:nvSpPr>
          <p:cNvPr id="6" name="">
            <a:extLst xmlns:a="http://schemas.openxmlformats.org/drawingml/2006/main">
              <a:ext uri="{FF2B5EF4-FFF2-40B4-BE49-F238E27FC236}">
                <a16:creationId xmlns:a16="http://schemas.microsoft.com/office/drawing/2014/main" id="{F752470E-360D-4005-BAE7-14436260F6B3}"/>
              </a:ext>
            </a:extLst>
          </p:cNvPr>
          <p:cNvSpPr>
            <a:spLocks xmlns:a="http://schemas.openxmlformats.org/drawingml/2006/main" noGrp="1"/>
          </p:cNvSpPr>
          <p:nvPr/>
        </p:nvSpPr>
        <p:spPr>
          <a:xfrm xmlns:a="http://schemas.openxmlformats.org/drawingml/2006/main">
            <a:off x="685800" y="54197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7F8F2"/>
                </a:solidFill>
                <a:latin typeface="Helvetica Neue"/>
                <a:ea typeface="Helvetica Neue"/>
                <a:cs typeface="Helvetica Neue"/>
              </a:defRPr>
            </a:defPPr>
          </a:lstStyle>
          <a:p xmlns:a="http://schemas.openxmlformats.org/drawingml/2006/main">
            <a:pPr>
              <a:defRPr sz="1875" b="0">
                <a:solidFill>
                  <a:srgbClr val="F7F8F2"/>
                </a:solidFill>
                <a:latin typeface="Helvetica Neue"/>
                <a:ea typeface="Helvetica Neue"/>
                <a:cs typeface="Helvetica Neue"/>
              </a:defRPr>
            </a:pPr>
            <a:r>
              <a:rPr sz="1875" b="0">
                <a:solidFill>
                  <a:srgbClr val="F7F8F2"/>
                </a:solidFill>
                <a:latin typeface="Helvetica Neue"/>
                <a:ea typeface="Helvetica Neue"/>
                <a:cs typeface="Helvetica Neue"/>
              </a:rPr>
              <a:t>Prism shows the evidence behind the claim before a budget decision.</a:t>
            </a:r>
          </a:p>
        </p:txBody>
      </p:sp>
    </p:spTree>
    <p:extLst>
      <p:ext uri="{BB962C8B-B14F-4D97-AF65-F5344CB8AC3E}">
        <p14:creationId xmlns:p14="http://schemas.microsoft.com/office/powerpoint/2010/main" val="429124550"/>
      </p:ext>
    </p:extLst>
  </p:cSld>
</p:sld>
</file>

<file path=ppt/slides/slide2.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589BC7-01E1-4011-89B8-1A4CB86CC3E7}"/>
              </a:ext>
            </a:extLst>
          </p:cNvPr>
          <p:cNvSpPr>
            <a:spLocks xmlns:a="http://schemas.openxmlformats.org/drawingml/2006/main" noGrp="1"/>
          </p:cNvSpPr>
          <p:nvPr/>
        </p:nvSpPr>
        <p:spPr>
          <a:xfrm xmlns:a="http://schemas.openxmlformats.org/drawingml/2006/main">
            <a:off x="685800" y="55245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43129"/>
                </a:solidFill>
                <a:latin typeface="Helvetica Neue"/>
                <a:ea typeface="Helvetica Neue"/>
                <a:cs typeface="Helvetica Neue"/>
              </a:defRPr>
            </a:defPPr>
          </a:lstStyle>
          <a:p xmlns:a="http://schemas.openxmlformats.org/drawingml/2006/main">
            <a:pPr>
              <a:defRPr sz="3600" b="1">
                <a:solidFill>
                  <a:srgbClr val="243129"/>
                </a:solidFill>
                <a:latin typeface="Helvetica Neue"/>
                <a:ea typeface="Helvetica Neue"/>
                <a:cs typeface="Helvetica Neue"/>
              </a:defRPr>
            </a:pPr>
            <a:r>
              <a:rPr sz="3600" b="1">
                <a:solidFill>
                  <a:srgbClr val="243129"/>
                </a:solidFill>
                <a:latin typeface="Helvetica Neue"/>
                <a:ea typeface="Helvetica Neue"/>
                <a:cs typeface="Helvetica Neue"/>
              </a:rPr>
              <a:t>A campaign that looks successful</a:t>
            </a:r>
          </a:p>
        </p:txBody>
      </p:sp>
      <p:sp>
        <p:nvSpPr>
          <p:cNvPr id="2" name="">
            <a:extLst xmlns:a="http://schemas.openxmlformats.org/drawingml/2006/main">
              <a:ext uri="{FF2B5EF4-FFF2-40B4-BE49-F238E27FC236}">
                <a16:creationId xmlns:a16="http://schemas.microsoft.com/office/drawing/2014/main" id="{231C07EF-58C3-4DFA-8911-B2C7B9D1F1FB}"/>
              </a:ext>
            </a:extLst>
          </p:cNvPr>
          <p:cNvSpPr>
            <a:spLocks xmlns:a="http://schemas.openxmlformats.org/drawingml/2006/main" noGrp="1"/>
          </p:cNvSpPr>
          <p:nvPr/>
        </p:nvSpPr>
        <p:spPr>
          <a:xfrm xmlns:a="http://schemas.openxmlformats.org/drawingml/2006/main">
            <a:off x="685800" y="63246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459"/>
                </a:solidFill>
                <a:latin typeface="Helvetica Neue"/>
                <a:ea typeface="Helvetica Neue"/>
                <a:cs typeface="Helvetica Neue"/>
              </a:defRPr>
            </a:defPPr>
          </a:lstStyle>
          <a:p xmlns:a="http://schemas.openxmlformats.org/drawingml/2006/main">
            <a:pPr>
              <a:defRPr sz="1350" b="0">
                <a:solidFill>
                  <a:srgbClr val="546459"/>
                </a:solidFill>
                <a:latin typeface="Helvetica Neue"/>
                <a:ea typeface="Helvetica Neue"/>
                <a:cs typeface="Helvetica Neue"/>
              </a:defRPr>
            </a:pPr>
            <a:r>
              <a:rPr sz="1350" b="0">
                <a:solidFill>
                  <a:srgbClr val="546459"/>
                </a:solidFill>
                <a:latin typeface="Helvetica Neue"/>
                <a:ea typeface="Helvetica Neue"/>
                <a:cs typeface="Helvetica Neue"/>
              </a:rPr>
              <a:t>PRISM   /   02</a:t>
            </a:r>
          </a:p>
        </p:txBody>
      </p:sp>
      <p:sp>
        <p:nvSpPr>
          <p:cNvPr id="3" name="">
            <a:extLst xmlns:a="http://schemas.openxmlformats.org/drawingml/2006/main">
              <a:ext uri="{FF2B5EF4-FFF2-40B4-BE49-F238E27FC236}">
                <a16:creationId xmlns:a16="http://schemas.microsoft.com/office/drawing/2014/main" id="{364C2AB6-07A8-413C-A24E-2857BD9CA08C}"/>
              </a:ext>
            </a:extLst>
          </p:cNvPr>
          <p:cNvSpPr>
            <a:spLocks xmlns:a="http://schemas.openxmlformats.org/drawingml/2006/main" noGrp="1"/>
          </p:cNvSpPr>
          <p:nvPr/>
        </p:nvSpPr>
        <p:spPr>
          <a:xfrm xmlns:a="http://schemas.openxmlformats.org/drawingml/2006/main">
            <a:off x="685800" y="14668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43129"/>
                </a:solidFill>
                <a:latin typeface="Helvetica Neue"/>
                <a:ea typeface="Helvetica Neue"/>
                <a:cs typeface="Helvetica Neue"/>
              </a:defRPr>
            </a:defPPr>
          </a:lstStyle>
          <a:p xmlns:a="http://schemas.openxmlformats.org/drawingml/2006/main">
            <a:pPr>
              <a:defRPr sz="2100" b="0">
                <a:solidFill>
                  <a:srgbClr val="243129"/>
                </a:solidFill>
                <a:latin typeface="Helvetica Neue"/>
                <a:ea typeface="Helvetica Neue"/>
                <a:cs typeface="Helvetica Neue"/>
              </a:defRPr>
            </a:pPr>
            <a:r>
              <a:rPr sz="2100" b="0">
                <a:solidFill>
                  <a:srgbClr val="243129"/>
                </a:solidFill>
                <a:latin typeface="Helvetica Neue"/>
                <a:ea typeface="Helvetica Neue"/>
                <a:cs typeface="Helvetica Neue"/>
              </a:rPr>
              <a:t>A manager sees growth and considers a larger budget.</a:t>
            </a:r>
          </a:p>
        </p:txBody>
      </p:sp>
      <p:graphicFrame>
        <p:nvGraphicFramePr>
          <p:cNvPr id="4" name="">
            <a:extLst xmlns:a="http://schemas.openxmlformats.org/drawingml/2006/main">
              <a:ext uri="{FF2B5EF4-FFF2-40B4-BE49-F238E27FC236}">
                <a16:creationId xmlns:a16="http://schemas.microsoft.com/office/drawing/2014/main" id="{14D6EA6E-1213-4389-8228-060FBBB38A83}"/>
              </a:ext>
            </a:extLst>
          </p:cNvPr>
          <p:cNvGraphicFramePr/>
          <p:nvPr/>
        </p:nvGraphicFramePr>
        <p:xfrm>
          <a:off xmlns:a="http://schemas.openxmlformats.org/drawingml/2006/main" x="685800" y="2238375"/>
          <a:ext xmlns:a="http://schemas.openxmlformats.org/drawingml/2006/main" cx="10820400" cy="2247900"/>
        </p:xfrm>
        <a:graphic xmlns:a="http://schemas.openxmlformats.org/drawingml/2006/main">
          <a:graphicData uri="http://schemas.openxmlformats.org/drawingml/2006/table">
            <a:tbl>
              <a:tblPr/>
              <a:tblGrid>
                <a:gridCol w="5905500"/>
                <a:gridCol w="2457450"/>
                <a:gridCol w="2457450"/>
              </a:tblGrid>
              <a:tr h="561975">
                <a:tc>
                  <a:txBody>
                    <a:bodyPr/>
                    <a:lstStyle/>
                    <a:p>
                      <a:r>
                        <a:rPr sz="2025" b="1">
                          <a:solidFill>
                            <a:srgbClr val="F7F8F2"/>
                          </a:solidFill>
                          <a:latin typeface="Helvetica Neue"/>
                          <a:ea typeface="Helvetica Neue"/>
                          <a:cs typeface="Helvetica Neue"/>
                        </a:rPr>
                        <a:t>Conversion rate</a:t>
                      </a:r>
                    </a:p>
                  </a:txBody>
                  <a:tcPr marL="91440" marR="91440" marT="45720" marB="45720">
                    <a:solidFill>
                      <a:srgbClr val="243129"/>
                    </a:solidFill>
                  </a:tcPr>
                </a:tc>
                <a:tc>
                  <a:txBody>
                    <a:bodyPr/>
                    <a:lstStyle/>
                    <a:p>
                      <a:r>
                        <a:rPr sz="2025" b="1">
                          <a:solidFill>
                            <a:srgbClr val="F7F8F2"/>
                          </a:solidFill>
                          <a:latin typeface="Helvetica Neue"/>
                          <a:ea typeface="Helvetica Neue"/>
                          <a:cs typeface="Helvetica Neue"/>
                        </a:rPr>
                        <a:t>Before</a:t>
                      </a:r>
                    </a:p>
                  </a:txBody>
                  <a:tcPr marL="91440" marR="91440" marT="45720" marB="45720">
                    <a:solidFill>
                      <a:srgbClr val="243129"/>
                    </a:solidFill>
                  </a:tcPr>
                </a:tc>
                <a:tc>
                  <a:txBody>
                    <a:bodyPr/>
                    <a:lstStyle/>
                    <a:p>
                      <a:r>
                        <a:rPr sz="2025" b="1">
                          <a:solidFill>
                            <a:srgbClr val="F7F8F2"/>
                          </a:solidFill>
                          <a:latin typeface="Helvetica Neue"/>
                          <a:ea typeface="Helvetica Neue"/>
                          <a:cs typeface="Helvetica Neue"/>
                        </a:rPr>
                        <a:t>After</a:t>
                      </a:r>
                    </a:p>
                  </a:txBody>
                  <a:tcPr marL="91440" marR="91440" marT="45720" marB="45720">
                    <a:solidFill>
                      <a:srgbClr val="243129"/>
                    </a:solidFill>
                  </a:tcPr>
                </a:tc>
              </a:tr>
              <a:tr h="561975">
                <a:tc>
                  <a:txBody>
                    <a:bodyPr/>
                    <a:lstStyle/>
                    <a:p>
                      <a:r>
                        <a:rPr sz="2025" b="1">
                          <a:solidFill>
                            <a:srgbClr val="243129"/>
                          </a:solidFill>
                          <a:latin typeface="Helvetica Neue"/>
                          <a:ea typeface="Helvetica Neue"/>
                          <a:cs typeface="Helvetica Neue"/>
                        </a:rPr>
                        <a:t>Overall</a:t>
                      </a:r>
                    </a:p>
                  </a:txBody>
                  <a:tcPr marL="91440" marR="91440" marT="45720" marB="45720">
                    <a:solidFill>
                      <a:srgbClr val="E4EED9"/>
                    </a:solidFill>
                  </a:tcPr>
                </a:tc>
                <a:tc>
                  <a:txBody>
                    <a:bodyPr/>
                    <a:lstStyle/>
                    <a:p>
                      <a:r>
                        <a:rPr sz="2025" b="1">
                          <a:solidFill>
                            <a:srgbClr val="243129"/>
                          </a:solidFill>
                          <a:latin typeface="Helvetica Neue"/>
                          <a:ea typeface="Helvetica Neue"/>
                          <a:cs typeface="Helvetica Neue"/>
                        </a:rPr>
                        <a:t>20%</a:t>
                      </a:r>
                    </a:p>
                  </a:txBody>
                  <a:tcPr marL="91440" marR="91440" marT="45720" marB="45720">
                    <a:solidFill>
                      <a:srgbClr val="E4EED9"/>
                    </a:solidFill>
                  </a:tcPr>
                </a:tc>
                <a:tc>
                  <a:txBody>
                    <a:bodyPr/>
                    <a:lstStyle/>
                    <a:p>
                      <a:r>
                        <a:rPr sz="2025" b="1">
                          <a:solidFill>
                            <a:srgbClr val="243129"/>
                          </a:solidFill>
                          <a:latin typeface="Helvetica Neue"/>
                          <a:ea typeface="Helvetica Neue"/>
                          <a:cs typeface="Helvetica Neue"/>
                        </a:rPr>
                        <a:t>45.6%</a:t>
                      </a:r>
                    </a:p>
                  </a:txBody>
                  <a:tcPr marL="91440" marR="91440" marT="45720" marB="45720">
                    <a:solidFill>
                      <a:srgbClr val="E4EED9"/>
                    </a:solidFill>
                  </a:tcPr>
                </a:tc>
              </a:tr>
              <a:tr h="561975">
                <a:tc>
                  <a:txBody>
                    <a:bodyPr/>
                    <a:lstStyle/>
                    <a:p>
                      <a:r>
                        <a:rPr sz="2025" b="0">
                          <a:solidFill>
                            <a:srgbClr val="243129"/>
                          </a:solidFill>
                          <a:latin typeface="Helvetica Neue"/>
                          <a:ea typeface="Helvetica Neue"/>
                          <a:cs typeface="Helvetica Neue"/>
                        </a:rPr>
                        <a:t>New customers</a:t>
                      </a:r>
                    </a:p>
                  </a:txBody>
                  <a:tcPr marL="91440" marR="91440" marT="45720" marB="45720">
                    <a:solidFill>
                      <a:srgbClr val="F7F8F2"/>
                    </a:solidFill>
                  </a:tcPr>
                </a:tc>
                <a:tc>
                  <a:txBody>
                    <a:bodyPr/>
                    <a:lstStyle/>
                    <a:p>
                      <a:r>
                        <a:rPr sz="2025" b="0">
                          <a:solidFill>
                            <a:srgbClr val="243129"/>
                          </a:solidFill>
                          <a:latin typeface="Helvetica Neue"/>
                          <a:ea typeface="Helvetica Neue"/>
                          <a:cs typeface="Helvetica Neue"/>
                        </a:rPr>
                        <a:t>10%</a:t>
                      </a:r>
                    </a:p>
                  </a:txBody>
                  <a:tcPr marL="91440" marR="91440" marT="45720" marB="45720">
                    <a:solidFill>
                      <a:srgbClr val="F7F8F2"/>
                    </a:solidFill>
                  </a:tcPr>
                </a:tc>
                <a:tc>
                  <a:txBody>
                    <a:bodyPr/>
                    <a:lstStyle/>
                    <a:p>
                      <a:r>
                        <a:rPr sz="2025" b="0">
                          <a:solidFill>
                            <a:srgbClr val="243129"/>
                          </a:solidFill>
                          <a:latin typeface="Helvetica Neue"/>
                          <a:ea typeface="Helvetica Neue"/>
                          <a:cs typeface="Helvetica Neue"/>
                        </a:rPr>
                        <a:t>8%</a:t>
                      </a:r>
                    </a:p>
                  </a:txBody>
                  <a:tcPr marL="91440" marR="91440" marT="45720" marB="45720">
                    <a:solidFill>
                      <a:srgbClr val="F7F8F2"/>
                    </a:solidFill>
                  </a:tcPr>
                </a:tc>
              </a:tr>
              <a:tr h="561975">
                <a:tc>
                  <a:txBody>
                    <a:bodyPr/>
                    <a:lstStyle/>
                    <a:p>
                      <a:r>
                        <a:rPr sz="2025" b="0">
                          <a:solidFill>
                            <a:srgbClr val="243129"/>
                          </a:solidFill>
                          <a:latin typeface="Helvetica Neue"/>
                          <a:ea typeface="Helvetica Neue"/>
                          <a:cs typeface="Helvetica Neue"/>
                        </a:rPr>
                        <a:t>Returning customers</a:t>
                      </a:r>
                    </a:p>
                  </a:txBody>
                  <a:tcPr marL="91440" marR="91440" marT="45720" marB="45720">
                    <a:solidFill>
                      <a:srgbClr val="F7F8F2"/>
                    </a:solidFill>
                  </a:tcPr>
                </a:tc>
                <a:tc>
                  <a:txBody>
                    <a:bodyPr/>
                    <a:lstStyle/>
                    <a:p>
                      <a:r>
                        <a:rPr sz="2025" b="0">
                          <a:solidFill>
                            <a:srgbClr val="243129"/>
                          </a:solidFill>
                          <a:latin typeface="Helvetica Neue"/>
                          <a:ea typeface="Helvetica Neue"/>
                          <a:cs typeface="Helvetica Neue"/>
                        </a:rPr>
                        <a:t>60%</a:t>
                      </a:r>
                    </a:p>
                  </a:txBody>
                  <a:tcPr marL="91440" marR="91440" marT="45720" marB="45720">
                    <a:solidFill>
                      <a:srgbClr val="F7F8F2"/>
                    </a:solidFill>
                  </a:tcPr>
                </a:tc>
                <a:tc>
                  <a:txBody>
                    <a:bodyPr/>
                    <a:lstStyle/>
                    <a:p>
                      <a:r>
                        <a:rPr sz="2025" b="0">
                          <a:solidFill>
                            <a:srgbClr val="243129"/>
                          </a:solidFill>
                          <a:latin typeface="Helvetica Neue"/>
                          <a:ea typeface="Helvetica Neue"/>
                          <a:cs typeface="Helvetica Neue"/>
                        </a:rPr>
                        <a:t>55%</a:t>
                      </a:r>
                    </a:p>
                  </a:txBody>
                  <a:tcPr marL="91440" marR="91440" marT="45720" marB="45720">
                    <a:solidFill>
                      <a:srgbClr val="F7F8F2"/>
                    </a:solidFill>
                  </a:tcPr>
                </a:tc>
              </a:tr>
            </a:tbl>
          </a:graphicData>
        </a:graphic>
      </p:graphicFrame>
      <p:sp>
        <p:nvSpPr>
          <p:cNvPr id="5" name="">
            <a:extLst xmlns:a="http://schemas.openxmlformats.org/drawingml/2006/main">
              <a:ext uri="{FF2B5EF4-FFF2-40B4-BE49-F238E27FC236}">
                <a16:creationId xmlns:a16="http://schemas.microsoft.com/office/drawing/2014/main" id="{38D8E0FE-517D-4828-A1B5-4905C730ABE8}"/>
              </a:ext>
            </a:extLst>
          </p:cNvPr>
          <p:cNvSpPr>
            <a:spLocks xmlns:a="http://schemas.openxmlformats.org/drawingml/2006/main" noGrp="1"/>
          </p:cNvSpPr>
          <p:nvPr/>
        </p:nvSpPr>
        <p:spPr>
          <a:xfrm xmlns:a="http://schemas.openxmlformats.org/drawingml/2006/main">
            <a:off x="685800" y="4857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43129"/>
                </a:solidFill>
                <a:latin typeface="Helvetica Neue"/>
                <a:ea typeface="Helvetica Neue"/>
                <a:cs typeface="Helvetica Neue"/>
              </a:defRPr>
            </a:defPPr>
          </a:lstStyle>
          <a:p xmlns:a="http://schemas.openxmlformats.org/drawingml/2006/main">
            <a:pPr>
              <a:defRPr sz="2250" b="1">
                <a:solidFill>
                  <a:srgbClr val="243129"/>
                </a:solidFill>
                <a:latin typeface="Helvetica Neue"/>
                <a:ea typeface="Helvetica Neue"/>
                <a:cs typeface="Helvetica Neue"/>
              </a:defRPr>
            </a:pPr>
            <a:r>
              <a:rPr sz="2250" b="1">
                <a:solidFill>
                  <a:srgbClr val="243129"/>
                </a:solidFill>
                <a:latin typeface="Helvetica Neue"/>
                <a:ea typeface="Helvetica Neue"/>
                <a:cs typeface="Helvetica Neue"/>
              </a:rPr>
              <a:t>What changed? More visitors were returning customers.</a:t>
            </a:r>
          </a:p>
        </p:txBody>
      </p:sp>
      <p:sp>
        <p:nvSpPr>
          <p:cNvPr id="6" name="">
            <a:extLst xmlns:a="http://schemas.openxmlformats.org/drawingml/2006/main">
              <a:ext uri="{FF2B5EF4-FFF2-40B4-BE49-F238E27FC236}">
                <a16:creationId xmlns:a16="http://schemas.microsoft.com/office/drawing/2014/main" id="{5369315E-1202-446B-8A06-71060FDF8D04}"/>
              </a:ext>
            </a:extLst>
          </p:cNvPr>
          <p:cNvSpPr>
            <a:spLocks xmlns:a="http://schemas.openxmlformats.org/drawingml/2006/main" noGrp="1"/>
          </p:cNvSpPr>
          <p:nvPr/>
        </p:nvSpPr>
        <p:spPr>
          <a:xfrm xmlns:a="http://schemas.openxmlformats.org/drawingml/2006/main">
            <a:off x="685800" y="533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46459"/>
                </a:solidFill>
                <a:latin typeface="Helvetica Neue"/>
                <a:ea typeface="Helvetica Neue"/>
                <a:cs typeface="Helvetica Neue"/>
              </a:defRPr>
            </a:defPPr>
          </a:lstStyle>
          <a:p xmlns:a="http://schemas.openxmlformats.org/drawingml/2006/main">
            <a:pPr>
              <a:defRPr sz="2025" b="0">
                <a:solidFill>
                  <a:srgbClr val="546459"/>
                </a:solidFill>
                <a:latin typeface="Helvetica Neue"/>
                <a:ea typeface="Helvetica Neue"/>
                <a:cs typeface="Helvetica Neue"/>
              </a:defRPr>
            </a:pPr>
            <a:r>
              <a:rPr sz="2025" b="0">
                <a:solidFill>
                  <a:srgbClr val="546459"/>
                </a:solidFill>
                <a:latin typeface="Helvetica Neue"/>
                <a:ea typeface="Helvetica Neue"/>
                <a:cs typeface="Helvetica Neue"/>
              </a:rPr>
              <a:t>Their share of the audience rose from 20% to 80%.</a:t>
            </a:r>
          </a:p>
        </p:txBody>
      </p:sp>
      <p:sp>
        <p:nvSpPr>
          <p:cNvPr id="7" name="">
            <a:extLst xmlns:a="http://schemas.openxmlformats.org/drawingml/2006/main">
              <a:ext uri="{FF2B5EF4-FFF2-40B4-BE49-F238E27FC236}">
                <a16:creationId xmlns:a16="http://schemas.microsoft.com/office/drawing/2014/main" id="{727F77B4-91F6-4A43-AE0B-15CFD266969A}"/>
              </a:ext>
            </a:extLst>
          </p:cNvPr>
          <p:cNvSpPr>
            <a:spLocks xmlns:a="http://schemas.openxmlformats.org/drawingml/2006/main" noGrp="1"/>
          </p:cNvSpPr>
          <p:nvPr/>
        </p:nvSpPr>
        <p:spPr>
          <a:xfrm xmlns:a="http://schemas.openxmlformats.org/drawingml/2006/main">
            <a:off x="7810500" y="6324600"/>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459"/>
                </a:solidFill>
                <a:latin typeface="Helvetica Neue"/>
                <a:ea typeface="Helvetica Neue"/>
                <a:cs typeface="Helvetica Neue"/>
              </a:defRPr>
            </a:defPPr>
          </a:lstStyle>
          <a:p xmlns:a="http://schemas.openxmlformats.org/drawingml/2006/main">
            <a:pPr>
              <a:defRPr sz="1350" b="0">
                <a:solidFill>
                  <a:srgbClr val="546459"/>
                </a:solidFill>
                <a:latin typeface="Helvetica Neue"/>
                <a:ea typeface="Helvetica Neue"/>
                <a:cs typeface="Helvetica Neue"/>
              </a:defRPr>
            </a:pPr>
            <a:r>
              <a:rPr sz="1350" b="0">
                <a:solidFill>
                  <a:srgbClr val="546459"/>
                </a:solidFill>
                <a:latin typeface="Helvetica Neue"/>
                <a:ea typeface="Helvetica Neue"/>
                <a:cs typeface="Helvetica Neue"/>
              </a:rPr>
              <a:t>Synthetic demonstration data</a:t>
            </a:r>
          </a:p>
        </p:txBody>
      </p:sp>
    </p:spTree>
    <p:extLst>
      <p:ext uri="{BB962C8B-B14F-4D97-AF65-F5344CB8AC3E}">
        <p14:creationId xmlns:p14="http://schemas.microsoft.com/office/powerpoint/2010/main" val="1692439799"/>
      </p:ext>
    </p:extLst>
  </p:cSld>
</p:sld>
</file>

<file path=ppt/slides/slide3.xml><?xml version="1.0" encoding="utf-8"?>
<p:sld xmlns:p="http://schemas.openxmlformats.org/presentationml/2006/main">
  <p:cSld>
    <p:bg>
      <p:bgPr>
        <a:solidFill xmlns:a="http://schemas.openxmlformats.org/drawingml/2006/main">
          <a:srgbClr val="F7F8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32577C3-1877-4BF4-9331-33F8FFD5A62D}"/>
              </a:ext>
            </a:extLst>
          </p:cNvPr>
          <p:cNvSpPr>
            <a:spLocks xmlns:a="http://schemas.openxmlformats.org/drawingml/2006/main" noGrp="1"/>
          </p:cNvSpPr>
          <p:nvPr/>
        </p:nvSpPr>
        <p:spPr>
          <a:xfrm xmlns:a="http://schemas.openxmlformats.org/drawingml/2006/main">
            <a:off x="685800" y="552450"/>
            <a:ext cx="10820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43129"/>
                </a:solidFill>
                <a:latin typeface="Helvetica Neue"/>
                <a:ea typeface="Helvetica Neue"/>
                <a:cs typeface="Helvetica Neue"/>
              </a:defRPr>
            </a:defPPr>
          </a:lstStyle>
          <a:p xmlns:a="http://schemas.openxmlformats.org/drawingml/2006/main">
            <a:pPr>
              <a:defRPr sz="3600" b="1">
                <a:solidFill>
                  <a:srgbClr val="243129"/>
                </a:solidFill>
                <a:latin typeface="Helvetica Neue"/>
                <a:ea typeface="Helvetica Neue"/>
                <a:cs typeface="Helvetica Neue"/>
              </a:defRPr>
            </a:pPr>
            <a:r>
              <a:rPr sz="3600" b="1">
                <a:solidFill>
                  <a:srgbClr val="243129"/>
                </a:solidFill>
                <a:latin typeface="Helvetica Neue"/>
                <a:ea typeface="Helvetica Neue"/>
                <a:cs typeface="Helvetica Neue"/>
              </a:rPr>
              <a:t>How Prism works</a:t>
            </a:r>
          </a:p>
        </p:txBody>
      </p:sp>
      <p:sp>
        <p:nvSpPr>
          <p:cNvPr id="2" name="">
            <a:extLst xmlns:a="http://schemas.openxmlformats.org/drawingml/2006/main">
              <a:ext uri="{FF2B5EF4-FFF2-40B4-BE49-F238E27FC236}">
                <a16:creationId xmlns:a16="http://schemas.microsoft.com/office/drawing/2014/main" id="{9951A07B-BC81-45AE-B886-3D766CB81108}"/>
              </a:ext>
            </a:extLst>
          </p:cNvPr>
          <p:cNvSpPr>
            <a:spLocks xmlns:a="http://schemas.openxmlformats.org/drawingml/2006/main" noGrp="1"/>
          </p:cNvSpPr>
          <p:nvPr/>
        </p:nvSpPr>
        <p:spPr>
          <a:xfrm xmlns:a="http://schemas.openxmlformats.org/drawingml/2006/main">
            <a:off x="685800" y="63246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46459"/>
                </a:solidFill>
                <a:latin typeface="Helvetica Neue"/>
                <a:ea typeface="Helvetica Neue"/>
                <a:cs typeface="Helvetica Neue"/>
              </a:defRPr>
            </a:defPPr>
          </a:lstStyle>
          <a:p xmlns:a="http://schemas.openxmlformats.org/drawingml/2006/main">
            <a:pPr>
              <a:defRPr sz="1350" b="0">
                <a:solidFill>
                  <a:srgbClr val="546459"/>
                </a:solidFill>
                <a:latin typeface="Helvetica Neue"/>
                <a:ea typeface="Helvetica Neue"/>
                <a:cs typeface="Helvetica Neue"/>
              </a:defRPr>
            </a:pPr>
            <a:r>
              <a:rPr sz="1350" b="0">
                <a:solidFill>
                  <a:srgbClr val="546459"/>
                </a:solidFill>
                <a:latin typeface="Helvetica Neue"/>
                <a:ea typeface="Helvetica Neue"/>
                <a:cs typeface="Helvetica Neue"/>
              </a:rPr>
              <a:t>PRISM   /   03</a:t>
            </a:r>
          </a:p>
        </p:txBody>
      </p:sp>
      <p:sp>
        <p:nvSpPr>
          <p:cNvPr id="3" name="">
            <a:extLst xmlns:a="http://schemas.openxmlformats.org/drawingml/2006/main">
              <a:ext uri="{FF2B5EF4-FFF2-40B4-BE49-F238E27FC236}">
                <a16:creationId xmlns:a16="http://schemas.microsoft.com/office/drawing/2014/main" id="{053D38AB-A0FB-43E1-905F-3C3C01F16AAC}"/>
              </a:ext>
            </a:extLst>
          </p:cNvPr>
          <p:cNvSpPr>
            <a:spLocks xmlns:a="http://schemas.openxmlformats.org/drawingml/2006/main" noGrp="1"/>
          </p:cNvSpPr>
          <p:nvPr/>
        </p:nvSpPr>
        <p:spPr>
          <a:xfrm xmlns:a="http://schemas.openxmlformats.org/drawingml/2006/main">
            <a:off x="685800" y="1428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43129"/>
                </a:solidFill>
                <a:latin typeface="Helvetica Neue"/>
                <a:ea typeface="Helvetica Neue"/>
                <a:cs typeface="Helvetica Neue"/>
              </a:defRPr>
            </a:defPPr>
          </a:lstStyle>
          <a:p xmlns:a="http://schemas.openxmlformats.org/drawingml/2006/main">
            <a:pPr>
              <a:defRPr sz="2100" b="0">
                <a:solidFill>
                  <a:srgbClr val="243129"/>
                </a:solidFill>
                <a:latin typeface="Helvetica Neue"/>
                <a:ea typeface="Helvetica Neue"/>
                <a:cs typeface="Helvetica Neue"/>
              </a:defRPr>
            </a:pPr>
            <a:r>
              <a:rPr sz="2100" b="0">
                <a:solidFill>
                  <a:srgbClr val="243129"/>
                </a:solidFill>
                <a:latin typeface="Helvetica Neue"/>
                <a:ea typeface="Helvetica Neue"/>
                <a:cs typeface="Helvetica Neue"/>
              </a:rPr>
              <a:t>React and TypeScript interface running in your browser</a:t>
            </a:r>
          </a:p>
        </p:txBody>
      </p:sp>
      <p:sp>
        <p:nvSpPr>
          <p:cNvPr id="4" name="">
            <a:extLst xmlns:a="http://schemas.openxmlformats.org/drawingml/2006/main">
              <a:ext uri="{FF2B5EF4-FFF2-40B4-BE49-F238E27FC236}">
                <a16:creationId xmlns:a16="http://schemas.microsoft.com/office/drawing/2014/main" id="{14BF95DC-5F4F-4C1A-AB9E-7243D13DAED7}"/>
              </a:ext>
            </a:extLst>
          </p:cNvPr>
          <p:cNvSpPr>
            <a:spLocks xmlns:a="http://schemas.openxmlformats.org/drawingml/2006/main" noGrp="1"/>
          </p:cNvSpPr>
          <p:nvPr/>
        </p:nvSpPr>
        <p:spPr>
          <a:xfrm xmlns:a="http://schemas.openxmlformats.org/drawingml/2006/main">
            <a:off x="685800" y="2562225"/>
            <a:ext cx="1943100" cy="1438275"/>
          </a:xfrm>
          <a:prstGeom xmlns:a="http://schemas.openxmlformats.org/drawingml/2006/main" prst="rect">
            <a:avLst/>
          </a:prstGeom>
          <a:solidFill xmlns:a="http://schemas.openxmlformats.org/drawingml/2006/main">
            <a:srgbClr val="E4EED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91F5E3-DE57-455B-8607-2968A4C877BE}"/>
              </a:ext>
            </a:extLst>
          </p:cNvPr>
          <p:cNvSpPr>
            <a:spLocks xmlns:a="http://schemas.openxmlformats.org/drawingml/2006/main" noGrp="1"/>
          </p:cNvSpPr>
          <p:nvPr/>
        </p:nvSpPr>
        <p:spPr>
          <a:xfrm xmlns:a="http://schemas.openxmlformats.org/drawingml/2006/main">
            <a:off x="819150" y="2743200"/>
            <a:ext cx="1695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129"/>
                </a:solidFill>
                <a:latin typeface="Helvetica Neue"/>
                <a:ea typeface="Helvetica Neue"/>
                <a:cs typeface="Helvetica Neue"/>
              </a:defRPr>
            </a:defPPr>
          </a:lstStyle>
          <a:p xmlns:a="http://schemas.openxmlformats.org/drawingml/2006/main">
            <a:pPr>
              <a:defRPr sz="2175" b="1">
                <a:solidFill>
                  <a:srgbClr val="243129"/>
                </a:solidFill>
                <a:latin typeface="Helvetica Neue"/>
                <a:ea typeface="Helvetica Neue"/>
                <a:cs typeface="Helvetica Neue"/>
              </a:defRPr>
            </a:pPr>
            <a:r>
              <a:rPr sz="2175" b="1">
                <a:solidFill>
                  <a:srgbClr val="243129"/>
                </a:solidFill>
                <a:latin typeface="Helvetica Neue"/>
                <a:ea typeface="Helvetica Neue"/>
                <a:cs typeface="Helvetica Neue"/>
              </a:rPr>
              <a:t>Load</a:t>
            </a:r>
          </a:p>
        </p:txBody>
      </p:sp>
      <p:sp>
        <p:nvSpPr>
          <p:cNvPr id="6" name="">
            <a:extLst xmlns:a="http://schemas.openxmlformats.org/drawingml/2006/main">
              <a:ext uri="{FF2B5EF4-FFF2-40B4-BE49-F238E27FC236}">
                <a16:creationId xmlns:a16="http://schemas.microsoft.com/office/drawing/2014/main" id="{C4AA877A-BC4D-4767-941B-8AEC624BECB3}"/>
              </a:ext>
            </a:extLst>
          </p:cNvPr>
          <p:cNvSpPr>
            <a:spLocks xmlns:a="http://schemas.openxmlformats.org/drawingml/2006/main" noGrp="1"/>
          </p:cNvSpPr>
          <p:nvPr/>
        </p:nvSpPr>
        <p:spPr>
          <a:xfrm xmlns:a="http://schemas.openxmlformats.org/drawingml/2006/main">
            <a:off x="819150" y="3286125"/>
            <a:ext cx="169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43129"/>
                </a:solidFill>
                <a:latin typeface="Helvetica Neue"/>
                <a:ea typeface="Helvetica Neue"/>
                <a:cs typeface="Helvetica Neue"/>
              </a:defRPr>
            </a:defPPr>
          </a:lstStyle>
          <a:p xmlns:a="http://schemas.openxmlformats.org/drawingml/2006/main">
            <a:pPr>
              <a:defRPr sz="1725" b="0">
                <a:solidFill>
                  <a:srgbClr val="243129"/>
                </a:solidFill>
                <a:latin typeface="Helvetica Neue"/>
                <a:ea typeface="Helvetica Neue"/>
                <a:cs typeface="Helvetica Neue"/>
              </a:defRPr>
            </a:pPr>
            <a:r>
              <a:rPr sz="1725" b="0">
                <a:solidFill>
                  <a:srgbClr val="243129"/>
                </a:solidFill>
                <a:latin typeface="Helvetica Neue"/>
                <a:ea typeface="Helvetica Neue"/>
                <a:cs typeface="Helvetica Neue"/>
              </a:rPr>
              <a:t>CSV or sample</a:t>
            </a:r>
          </a:p>
        </p:txBody>
      </p:sp>
      <p:sp>
        <p:nvSpPr>
          <p:cNvPr id="7" name="">
            <a:extLst xmlns:a="http://schemas.openxmlformats.org/drawingml/2006/main">
              <a:ext uri="{FF2B5EF4-FFF2-40B4-BE49-F238E27FC236}">
                <a16:creationId xmlns:a16="http://schemas.microsoft.com/office/drawing/2014/main" id="{101E11FD-5A2F-489A-8BE7-DBE8AB7DCCBD}"/>
              </a:ext>
            </a:extLst>
          </p:cNvPr>
          <p:cNvSpPr>
            <a:spLocks xmlns:a="http://schemas.openxmlformats.org/drawingml/2006/main" noGrp="1"/>
          </p:cNvSpPr>
          <p:nvPr/>
        </p:nvSpPr>
        <p:spPr>
          <a:xfrm xmlns:a="http://schemas.openxmlformats.org/drawingml/2006/main">
            <a:off x="2686050" y="3105150"/>
            <a:ext cx="171450" cy="209550"/>
          </a:xfrm>
          <a:prstGeom xmlns:a="http://schemas.openxmlformats.org/drawingml/2006/main" prst="rightArrow">
            <a:avLst/>
          </a:prstGeom>
          <a:solidFill xmlns:a="http://schemas.openxmlformats.org/drawingml/2006/main">
            <a:srgbClr val="54645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D46823-BD45-4D44-84B9-B501A4238EC1}"/>
              </a:ext>
            </a:extLst>
          </p:cNvPr>
          <p:cNvSpPr>
            <a:spLocks xmlns:a="http://schemas.openxmlformats.org/drawingml/2006/main" noGrp="1"/>
          </p:cNvSpPr>
          <p:nvPr/>
        </p:nvSpPr>
        <p:spPr>
          <a:xfrm xmlns:a="http://schemas.openxmlformats.org/drawingml/2006/main">
            <a:off x="2895600" y="2562225"/>
            <a:ext cx="1943100" cy="1438275"/>
          </a:xfrm>
          <a:prstGeom xmlns:a="http://schemas.openxmlformats.org/drawingml/2006/main" prst="rect">
            <a:avLst/>
          </a:prstGeom>
          <a:solidFill xmlns:a="http://schemas.openxmlformats.org/drawingml/2006/main">
            <a:srgbClr val="E4EED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CB68D71-E463-4EE3-BB12-C1FA5D150747}"/>
              </a:ext>
            </a:extLst>
          </p:cNvPr>
          <p:cNvSpPr>
            <a:spLocks xmlns:a="http://schemas.openxmlformats.org/drawingml/2006/main" noGrp="1"/>
          </p:cNvSpPr>
          <p:nvPr/>
        </p:nvSpPr>
        <p:spPr>
          <a:xfrm xmlns:a="http://schemas.openxmlformats.org/drawingml/2006/main">
            <a:off x="3028950" y="2743200"/>
            <a:ext cx="1695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129"/>
                </a:solidFill>
                <a:latin typeface="Helvetica Neue"/>
                <a:ea typeface="Helvetica Neue"/>
                <a:cs typeface="Helvetica Neue"/>
              </a:defRPr>
            </a:defPPr>
          </a:lstStyle>
          <a:p xmlns:a="http://schemas.openxmlformats.org/drawingml/2006/main">
            <a:pPr>
              <a:defRPr sz="2175" b="1">
                <a:solidFill>
                  <a:srgbClr val="243129"/>
                </a:solidFill>
                <a:latin typeface="Helvetica Neue"/>
                <a:ea typeface="Helvetica Neue"/>
                <a:cs typeface="Helvetica Neue"/>
              </a:defRPr>
            </a:pPr>
            <a:r>
              <a:rPr sz="2175" b="1">
                <a:solidFill>
                  <a:srgbClr val="243129"/>
                </a:solidFill>
                <a:latin typeface="Helvetica Neue"/>
                <a:ea typeface="Helvetica Neue"/>
                <a:cs typeface="Helvetica Neue"/>
              </a:rPr>
              <a:t>Validate</a:t>
            </a:r>
          </a:p>
        </p:txBody>
      </p:sp>
      <p:sp>
        <p:nvSpPr>
          <p:cNvPr id="10" name="">
            <a:extLst xmlns:a="http://schemas.openxmlformats.org/drawingml/2006/main">
              <a:ext uri="{FF2B5EF4-FFF2-40B4-BE49-F238E27FC236}">
                <a16:creationId xmlns:a16="http://schemas.microsoft.com/office/drawing/2014/main" id="{D41F12F7-BA62-45AE-9A08-B7B5535402D3}"/>
              </a:ext>
            </a:extLst>
          </p:cNvPr>
          <p:cNvSpPr>
            <a:spLocks xmlns:a="http://schemas.openxmlformats.org/drawingml/2006/main" noGrp="1"/>
          </p:cNvSpPr>
          <p:nvPr/>
        </p:nvSpPr>
        <p:spPr>
          <a:xfrm xmlns:a="http://schemas.openxmlformats.org/drawingml/2006/main">
            <a:off x="3028950" y="3286125"/>
            <a:ext cx="169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43129"/>
                </a:solidFill>
                <a:latin typeface="Helvetica Neue"/>
                <a:ea typeface="Helvetica Neue"/>
                <a:cs typeface="Helvetica Neue"/>
              </a:defRPr>
            </a:defPPr>
          </a:lstStyle>
          <a:p xmlns:a="http://schemas.openxmlformats.org/drawingml/2006/main">
            <a:pPr>
              <a:defRPr sz="1725" b="0">
                <a:solidFill>
                  <a:srgbClr val="243129"/>
                </a:solidFill>
                <a:latin typeface="Helvetica Neue"/>
                <a:ea typeface="Helvetica Neue"/>
                <a:cs typeface="Helvetica Neue"/>
              </a:defRPr>
            </a:pPr>
            <a:r>
              <a:rPr sz="1725" b="0">
                <a:solidFill>
                  <a:srgbClr val="243129"/>
                </a:solidFill>
                <a:latin typeface="Helvetica Neue"/>
                <a:ea typeface="Helvetica Neue"/>
                <a:cs typeface="Helvetica Neue"/>
              </a:rPr>
              <a:t>Columns and counts</a:t>
            </a:r>
          </a:p>
        </p:txBody>
      </p:sp>
      <p:sp>
        <p:nvSpPr>
          <p:cNvPr id="11" name="">
            <a:extLst xmlns:a="http://schemas.openxmlformats.org/drawingml/2006/main">
              <a:ext uri="{FF2B5EF4-FFF2-40B4-BE49-F238E27FC236}">
                <a16:creationId xmlns:a16="http://schemas.microsoft.com/office/drawing/2014/main" id="{7BFE0A2C-47DD-46CF-9BD7-28738A699A69}"/>
              </a:ext>
            </a:extLst>
          </p:cNvPr>
          <p:cNvSpPr>
            <a:spLocks xmlns:a="http://schemas.openxmlformats.org/drawingml/2006/main" noGrp="1"/>
          </p:cNvSpPr>
          <p:nvPr/>
        </p:nvSpPr>
        <p:spPr>
          <a:xfrm xmlns:a="http://schemas.openxmlformats.org/drawingml/2006/main">
            <a:off x="4895850" y="3105150"/>
            <a:ext cx="171450" cy="209550"/>
          </a:xfrm>
          <a:prstGeom xmlns:a="http://schemas.openxmlformats.org/drawingml/2006/main" prst="rightArrow">
            <a:avLst/>
          </a:prstGeom>
          <a:solidFill xmlns:a="http://schemas.openxmlformats.org/drawingml/2006/main">
            <a:srgbClr val="54645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81A745-9052-4ACB-AEC7-770571F6A342}"/>
              </a:ext>
            </a:extLst>
          </p:cNvPr>
          <p:cNvSpPr>
            <a:spLocks xmlns:a="http://schemas.openxmlformats.org/drawingml/2006/main" noGrp="1"/>
          </p:cNvSpPr>
          <p:nvPr/>
        </p:nvSpPr>
        <p:spPr>
          <a:xfrm xmlns:a="http://schemas.openxmlformats.org/drawingml/2006/main">
            <a:off x="5105400" y="2562225"/>
            <a:ext cx="1943100" cy="1438275"/>
          </a:xfrm>
          <a:prstGeom xmlns:a="http://schemas.openxmlformats.org/drawingml/2006/main" prst="rect">
            <a:avLst/>
          </a:prstGeom>
          <a:solidFill xmlns:a="http://schemas.openxmlformats.org/drawingml/2006/main">
            <a:srgbClr val="E4EED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3E298C-EA23-4B41-A4E6-15043A17EEEB}"/>
              </a:ext>
            </a:extLst>
          </p:cNvPr>
          <p:cNvSpPr>
            <a:spLocks xmlns:a="http://schemas.openxmlformats.org/drawingml/2006/main" noGrp="1"/>
          </p:cNvSpPr>
          <p:nvPr/>
        </p:nvSpPr>
        <p:spPr>
          <a:xfrm xmlns:a="http://schemas.openxmlformats.org/drawingml/2006/main">
            <a:off x="5238750" y="2743200"/>
            <a:ext cx="1695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129"/>
                </a:solidFill>
                <a:latin typeface="Helvetica Neue"/>
                <a:ea typeface="Helvetica Neue"/>
                <a:cs typeface="Helvetica Neue"/>
              </a:defRPr>
            </a:defPPr>
          </a:lstStyle>
          <a:p xmlns:a="http://schemas.openxmlformats.org/drawingml/2006/main">
            <a:pPr>
              <a:defRPr sz="2175" b="1">
                <a:solidFill>
                  <a:srgbClr val="243129"/>
                </a:solidFill>
                <a:latin typeface="Helvetica Neue"/>
                <a:ea typeface="Helvetica Neue"/>
                <a:cs typeface="Helvetica Neue"/>
              </a:defRPr>
            </a:pPr>
            <a:r>
              <a:rPr sz="2175" b="1">
                <a:solidFill>
                  <a:srgbClr val="243129"/>
                </a:solidFill>
                <a:latin typeface="Helvetica Neue"/>
                <a:ea typeface="Helvetica Neue"/>
                <a:cs typeface="Helvetica Neue"/>
              </a:rPr>
              <a:t>Calculate</a:t>
            </a:r>
          </a:p>
        </p:txBody>
      </p:sp>
      <p:sp>
        <p:nvSpPr>
          <p:cNvPr id="14" name="">
            <a:extLst xmlns:a="http://schemas.openxmlformats.org/drawingml/2006/main">
              <a:ext uri="{FF2B5EF4-FFF2-40B4-BE49-F238E27FC236}">
                <a16:creationId xmlns:a16="http://schemas.microsoft.com/office/drawing/2014/main" id="{E736AD11-324E-462C-BBE3-B2735A0DEEBF}"/>
              </a:ext>
            </a:extLst>
          </p:cNvPr>
          <p:cNvSpPr>
            <a:spLocks xmlns:a="http://schemas.openxmlformats.org/drawingml/2006/main" noGrp="1"/>
          </p:cNvSpPr>
          <p:nvPr/>
        </p:nvSpPr>
        <p:spPr>
          <a:xfrm xmlns:a="http://schemas.openxmlformats.org/drawingml/2006/main">
            <a:off x="5238750" y="3286125"/>
            <a:ext cx="169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43129"/>
                </a:solidFill>
                <a:latin typeface="Helvetica Neue"/>
                <a:ea typeface="Helvetica Neue"/>
                <a:cs typeface="Helvetica Neue"/>
              </a:defRPr>
            </a:defPPr>
          </a:lstStyle>
          <a:p xmlns:a="http://schemas.openxmlformats.org/drawingml/2006/main">
            <a:pPr>
              <a:defRPr sz="1725" b="0">
                <a:solidFill>
                  <a:srgbClr val="243129"/>
                </a:solidFill>
                <a:latin typeface="Helvetica Neue"/>
                <a:ea typeface="Helvetica Neue"/>
                <a:cs typeface="Helvetica Neue"/>
              </a:defRPr>
            </a:pPr>
            <a:r>
              <a:rPr sz="1725" b="0">
                <a:solidFill>
                  <a:srgbClr val="243129"/>
                </a:solidFill>
                <a:latin typeface="Helvetica Neue"/>
                <a:ea typeface="Helvetica Neue"/>
                <a:cs typeface="Helvetica Neue"/>
              </a:rPr>
              <a:t>Rates and audience mix</a:t>
            </a:r>
          </a:p>
        </p:txBody>
      </p:sp>
      <p:sp>
        <p:nvSpPr>
          <p:cNvPr id="15" name="">
            <a:extLst xmlns:a="http://schemas.openxmlformats.org/drawingml/2006/main">
              <a:ext uri="{FF2B5EF4-FFF2-40B4-BE49-F238E27FC236}">
                <a16:creationId xmlns:a16="http://schemas.microsoft.com/office/drawing/2014/main" id="{0186F392-AF31-4A32-AA85-5BD961ECDF98}"/>
              </a:ext>
            </a:extLst>
          </p:cNvPr>
          <p:cNvSpPr>
            <a:spLocks xmlns:a="http://schemas.openxmlformats.org/drawingml/2006/main" noGrp="1"/>
          </p:cNvSpPr>
          <p:nvPr/>
        </p:nvSpPr>
        <p:spPr>
          <a:xfrm xmlns:a="http://schemas.openxmlformats.org/drawingml/2006/main">
            <a:off x="7105650" y="3105150"/>
            <a:ext cx="171450" cy="209550"/>
          </a:xfrm>
          <a:prstGeom xmlns:a="http://schemas.openxmlformats.org/drawingml/2006/main" prst="rightArrow">
            <a:avLst/>
          </a:prstGeom>
          <a:solidFill xmlns:a="http://schemas.openxmlformats.org/drawingml/2006/main">
            <a:srgbClr val="54645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ABAF74F-EE95-4554-A868-BC41C0BDA5E3}"/>
              </a:ext>
            </a:extLst>
          </p:cNvPr>
          <p:cNvSpPr>
            <a:spLocks xmlns:a="http://schemas.openxmlformats.org/drawingml/2006/main" noGrp="1"/>
          </p:cNvSpPr>
          <p:nvPr/>
        </p:nvSpPr>
        <p:spPr>
          <a:xfrm xmlns:a="http://schemas.openxmlformats.org/drawingml/2006/main">
            <a:off x="7315200" y="2562225"/>
            <a:ext cx="1943100" cy="1438275"/>
          </a:xfrm>
          <a:prstGeom xmlns:a="http://schemas.openxmlformats.org/drawingml/2006/main" prst="rect">
            <a:avLst/>
          </a:prstGeom>
          <a:solidFill xmlns:a="http://schemas.openxmlformats.org/drawingml/2006/main">
            <a:srgbClr val="E4EED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9329366-66CE-40A9-A0BF-7356CE29C907}"/>
              </a:ext>
            </a:extLst>
          </p:cNvPr>
          <p:cNvSpPr>
            <a:spLocks xmlns:a="http://schemas.openxmlformats.org/drawingml/2006/main" noGrp="1"/>
          </p:cNvSpPr>
          <p:nvPr/>
        </p:nvSpPr>
        <p:spPr>
          <a:xfrm xmlns:a="http://schemas.openxmlformats.org/drawingml/2006/main">
            <a:off x="7448550" y="2743200"/>
            <a:ext cx="1695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129"/>
                </a:solidFill>
                <a:latin typeface="Helvetica Neue"/>
                <a:ea typeface="Helvetica Neue"/>
                <a:cs typeface="Helvetica Neue"/>
              </a:defRPr>
            </a:defPPr>
          </a:lstStyle>
          <a:p xmlns:a="http://schemas.openxmlformats.org/drawingml/2006/main">
            <a:pPr>
              <a:defRPr sz="2175" b="1">
                <a:solidFill>
                  <a:srgbClr val="243129"/>
                </a:solidFill>
                <a:latin typeface="Helvetica Neue"/>
                <a:ea typeface="Helvetica Neue"/>
                <a:cs typeface="Helvetica Neue"/>
              </a:defRPr>
            </a:pPr>
            <a:r>
              <a:rPr sz="2175" b="1">
                <a:solidFill>
                  <a:srgbClr val="243129"/>
                </a:solidFill>
                <a:latin typeface="Helvetica Neue"/>
                <a:ea typeface="Helvetica Neue"/>
                <a:cs typeface="Helvetica Neue"/>
              </a:rPr>
              <a:t>Check</a:t>
            </a:r>
          </a:p>
        </p:txBody>
      </p:sp>
      <p:sp>
        <p:nvSpPr>
          <p:cNvPr id="18" name="">
            <a:extLst xmlns:a="http://schemas.openxmlformats.org/drawingml/2006/main">
              <a:ext uri="{FF2B5EF4-FFF2-40B4-BE49-F238E27FC236}">
                <a16:creationId xmlns:a16="http://schemas.microsoft.com/office/drawing/2014/main" id="{AA684D9F-6EB6-4906-AB6D-9454C6B10935}"/>
              </a:ext>
            </a:extLst>
          </p:cNvPr>
          <p:cNvSpPr>
            <a:spLocks xmlns:a="http://schemas.openxmlformats.org/drawingml/2006/main" noGrp="1"/>
          </p:cNvSpPr>
          <p:nvPr/>
        </p:nvSpPr>
        <p:spPr>
          <a:xfrm xmlns:a="http://schemas.openxmlformats.org/drawingml/2006/main">
            <a:off x="7448550" y="3286125"/>
            <a:ext cx="169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43129"/>
                </a:solidFill>
                <a:latin typeface="Helvetica Neue"/>
                <a:ea typeface="Helvetica Neue"/>
                <a:cs typeface="Helvetica Neue"/>
              </a:defRPr>
            </a:defPPr>
          </a:lstStyle>
          <a:p xmlns:a="http://schemas.openxmlformats.org/drawingml/2006/main">
            <a:pPr>
              <a:defRPr sz="1725" b="0">
                <a:solidFill>
                  <a:srgbClr val="243129"/>
                </a:solidFill>
                <a:latin typeface="Helvetica Neue"/>
                <a:ea typeface="Helvetica Neue"/>
                <a:cs typeface="Helvetica Neue"/>
              </a:defRPr>
            </a:pPr>
            <a:r>
              <a:rPr sz="1725" b="0">
                <a:solidFill>
                  <a:srgbClr val="243129"/>
                </a:solidFill>
                <a:latin typeface="Helvetica Neue"/>
                <a:ea typeface="Helvetica Neue"/>
                <a:cs typeface="Helvetica Neue"/>
              </a:rPr>
              <a:t>Selected claim</a:t>
            </a:r>
          </a:p>
        </p:txBody>
      </p:sp>
      <p:sp>
        <p:nvSpPr>
          <p:cNvPr id="19" name="">
            <a:extLst xmlns:a="http://schemas.openxmlformats.org/drawingml/2006/main">
              <a:ext uri="{FF2B5EF4-FFF2-40B4-BE49-F238E27FC236}">
                <a16:creationId xmlns:a16="http://schemas.microsoft.com/office/drawing/2014/main" id="{CB446F38-32E0-4EDF-8858-4BD67CA9C70D}"/>
              </a:ext>
            </a:extLst>
          </p:cNvPr>
          <p:cNvSpPr>
            <a:spLocks xmlns:a="http://schemas.openxmlformats.org/drawingml/2006/main" noGrp="1"/>
          </p:cNvSpPr>
          <p:nvPr/>
        </p:nvSpPr>
        <p:spPr>
          <a:xfrm xmlns:a="http://schemas.openxmlformats.org/drawingml/2006/main">
            <a:off x="9315450" y="3105150"/>
            <a:ext cx="171450" cy="209550"/>
          </a:xfrm>
          <a:prstGeom xmlns:a="http://schemas.openxmlformats.org/drawingml/2006/main" prst="rightArrow">
            <a:avLst/>
          </a:prstGeom>
          <a:solidFill xmlns:a="http://schemas.openxmlformats.org/drawingml/2006/main">
            <a:srgbClr val="54645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6DD1AFC-29A3-4721-81DC-97CD693917E2}"/>
              </a:ext>
            </a:extLst>
          </p:cNvPr>
          <p:cNvSpPr>
            <a:spLocks xmlns:a="http://schemas.openxmlformats.org/drawingml/2006/main" noGrp="1"/>
          </p:cNvSpPr>
          <p:nvPr/>
        </p:nvSpPr>
        <p:spPr>
          <a:xfrm xmlns:a="http://schemas.openxmlformats.org/drawingml/2006/main">
            <a:off x="9525000" y="2562225"/>
            <a:ext cx="1943100" cy="1438275"/>
          </a:xfrm>
          <a:prstGeom xmlns:a="http://schemas.openxmlformats.org/drawingml/2006/main" prst="rect">
            <a:avLst/>
          </a:prstGeom>
          <a:solidFill xmlns:a="http://schemas.openxmlformats.org/drawingml/2006/main">
            <a:srgbClr val="24312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36BDD92-185B-4534-A21B-81931F4B201B}"/>
              </a:ext>
            </a:extLst>
          </p:cNvPr>
          <p:cNvSpPr>
            <a:spLocks xmlns:a="http://schemas.openxmlformats.org/drawingml/2006/main" noGrp="1"/>
          </p:cNvSpPr>
          <p:nvPr/>
        </p:nvSpPr>
        <p:spPr>
          <a:xfrm xmlns:a="http://schemas.openxmlformats.org/drawingml/2006/main">
            <a:off x="9658350" y="2743200"/>
            <a:ext cx="1695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F7F8F2"/>
                </a:solidFill>
                <a:latin typeface="Helvetica Neue"/>
                <a:ea typeface="Helvetica Neue"/>
                <a:cs typeface="Helvetica Neue"/>
              </a:defRPr>
            </a:defPPr>
          </a:lstStyle>
          <a:p xmlns:a="http://schemas.openxmlformats.org/drawingml/2006/main">
            <a:pPr>
              <a:defRPr sz="2175" b="1">
                <a:solidFill>
                  <a:srgbClr val="F7F8F2"/>
                </a:solidFill>
                <a:latin typeface="Helvetica Neue"/>
                <a:ea typeface="Helvetica Neue"/>
                <a:cs typeface="Helvetica Neue"/>
              </a:defRPr>
            </a:pPr>
            <a:r>
              <a:rPr sz="2175" b="1">
                <a:solidFill>
                  <a:srgbClr val="F7F8F2"/>
                </a:solidFill>
                <a:latin typeface="Helvetica Neue"/>
                <a:ea typeface="Helvetica Neue"/>
                <a:cs typeface="Helvetica Neue"/>
              </a:rPr>
              <a:t>Present</a:t>
            </a:r>
          </a:p>
        </p:txBody>
      </p:sp>
      <p:sp>
        <p:nvSpPr>
          <p:cNvPr id="22" name="">
            <a:extLst xmlns:a="http://schemas.openxmlformats.org/drawingml/2006/main">
              <a:ext uri="{FF2B5EF4-FFF2-40B4-BE49-F238E27FC236}">
                <a16:creationId xmlns:a16="http://schemas.microsoft.com/office/drawing/2014/main" id="{7CD92FDA-ECEB-4327-86BD-32791B72A549}"/>
              </a:ext>
            </a:extLst>
          </p:cNvPr>
          <p:cNvSpPr>
            <a:spLocks xmlns:a="http://schemas.openxmlformats.org/drawingml/2006/main" noGrp="1"/>
          </p:cNvSpPr>
          <p:nvPr/>
        </p:nvSpPr>
        <p:spPr>
          <a:xfrm xmlns:a="http://schemas.openxmlformats.org/drawingml/2006/main">
            <a:off x="9658350" y="3286125"/>
            <a:ext cx="16954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7F8F2"/>
                </a:solidFill>
                <a:latin typeface="Helvetica Neue"/>
                <a:ea typeface="Helvetica Neue"/>
                <a:cs typeface="Helvetica Neue"/>
              </a:defRPr>
            </a:defPPr>
          </a:lstStyle>
          <a:p xmlns:a="http://schemas.openxmlformats.org/drawingml/2006/main">
            <a:pPr>
              <a:defRPr sz="1725" b="0">
                <a:solidFill>
                  <a:srgbClr val="F7F8F2"/>
                </a:solidFill>
                <a:latin typeface="Helvetica Neue"/>
                <a:ea typeface="Helvetica Neue"/>
                <a:cs typeface="Helvetica Neue"/>
              </a:defRPr>
            </a:pPr>
            <a:r>
              <a:rPr sz="1725" b="0">
                <a:solidFill>
                  <a:srgbClr val="F7F8F2"/>
                </a:solidFill>
                <a:latin typeface="Helvetica Neue"/>
                <a:ea typeface="Helvetica Neue"/>
                <a:cs typeface="Helvetica Neue"/>
              </a:rPr>
              <a:t>Charts and evidence</a:t>
            </a:r>
          </a:p>
        </p:txBody>
      </p:sp>
      <p:sp>
        <p:nvSpPr>
          <p:cNvPr id="23" name="">
            <a:extLst xmlns:a="http://schemas.openxmlformats.org/drawingml/2006/main">
              <a:ext uri="{FF2B5EF4-FFF2-40B4-BE49-F238E27FC236}">
                <a16:creationId xmlns:a16="http://schemas.microsoft.com/office/drawing/2014/main" id="{DFF062CB-F7A9-44C7-88C3-61A2A3E1ACE4}"/>
              </a:ext>
            </a:extLst>
          </p:cNvPr>
          <p:cNvSpPr>
            <a:spLocks xmlns:a="http://schemas.openxmlformats.org/drawingml/2006/main" noGrp="1"/>
          </p:cNvSpPr>
          <p:nvPr/>
        </p:nvSpPr>
        <p:spPr>
          <a:xfrm xmlns:a="http://schemas.openxmlformats.org/drawingml/2006/main">
            <a:off x="685800" y="44196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43129"/>
                </a:solidFill>
                <a:latin typeface="Helvetica Neue"/>
                <a:ea typeface="Helvetica Neue"/>
                <a:cs typeface="Helvetica Neue"/>
              </a:defRPr>
            </a:defPPr>
          </a:lstStyle>
          <a:p xmlns:a="http://schemas.openxmlformats.org/drawingml/2006/main">
            <a:pPr>
              <a:defRPr sz="2025" b="0">
                <a:solidFill>
                  <a:srgbClr val="243129"/>
                </a:solidFill>
                <a:latin typeface="Helvetica Neue"/>
                <a:ea typeface="Helvetica Neue"/>
                <a:cs typeface="Helvetica Neue"/>
              </a:defRPr>
            </a:pPr>
            <a:r>
              <a:rPr sz="2025" b="0">
                <a:solidFill>
                  <a:srgbClr val="243129"/>
                </a:solidFill>
                <a:latin typeface="Helvetica Neue"/>
                <a:ea typeface="Helvetica Neue"/>
                <a:cs typeface="Helvetica Neue"/>
              </a:rPr>
              <a:t>Sandbox edits reuse the calculations. Evaluation checks 12 reference cases.</a:t>
            </a:r>
          </a:p>
        </p:txBody>
      </p:sp>
      <p:sp>
        <p:nvSpPr>
          <p:cNvPr id="24" name="">
            <a:extLst xmlns:a="http://schemas.openxmlformats.org/drawingml/2006/main">
              <a:ext uri="{FF2B5EF4-FFF2-40B4-BE49-F238E27FC236}">
                <a16:creationId xmlns:a16="http://schemas.microsoft.com/office/drawing/2014/main" id="{32DD22E9-ABEB-41C6-A0C7-5DFB7A35DED0}"/>
              </a:ext>
            </a:extLst>
          </p:cNvPr>
          <p:cNvSpPr>
            <a:spLocks xmlns:a="http://schemas.openxmlformats.org/drawingml/2006/main" noGrp="1"/>
          </p:cNvSpPr>
          <p:nvPr/>
        </p:nvSpPr>
        <p:spPr>
          <a:xfrm xmlns:a="http://schemas.openxmlformats.org/drawingml/2006/main">
            <a:off x="685800" y="53625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46459"/>
                </a:solidFill>
                <a:latin typeface="Helvetica Neue"/>
                <a:ea typeface="Helvetica Neue"/>
                <a:cs typeface="Helvetica Neue"/>
              </a:defRPr>
            </a:defPPr>
          </a:lstStyle>
          <a:p xmlns:a="http://schemas.openxmlformats.org/drawingml/2006/main">
            <a:pPr>
              <a:defRPr sz="1950" b="0">
                <a:solidFill>
                  <a:srgbClr val="546459"/>
                </a:solidFill>
                <a:latin typeface="Helvetica Neue"/>
                <a:ea typeface="Helvetica Neue"/>
                <a:cs typeface="Helvetica Neue"/>
              </a:defRPr>
            </a:pPr>
            <a:r>
              <a:rPr sz="1950" b="0">
                <a:solidFill>
                  <a:srgbClr val="546459"/>
                </a:solidFill>
                <a:latin typeface="Helvetica Neue"/>
                <a:ea typeface="Helvetica Neue"/>
                <a:cs typeface="Helvetica Neue"/>
              </a:rPr>
              <a:t>Built with Codex assistance. No paid APIs or live AI model.</a:t>
            </a:r>
          </a:p>
        </p:txBody>
      </p:sp>
    </p:spTree>
    <p:extLst>
      <p:ext uri="{BB962C8B-B14F-4D97-AF65-F5344CB8AC3E}">
        <p14:creationId xmlns:p14="http://schemas.microsoft.com/office/powerpoint/2010/main" val="5249192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2026-10-11T18:19:30.8390000Z</dcterms:created>
  <dcterms:modified xsi:type="dcterms:W3CDTF">2026-10-11T18:19:30.8390000Z</dcterms:modified>
</coreProperties>
</file>