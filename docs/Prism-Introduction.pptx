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presProps.xml" ContentType="application/vnd.openxmlformats-officedocument.presentationml.pres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00660f118443be" /><Relationship Type="http://schemas.openxmlformats.org/officeDocument/2006/relationships/extended-properties" Target="/docProps/app.xml" Id="Re4f2ebdccad6411d" /><Relationship Type="http://schemas.openxmlformats.org/officeDocument/2006/relationships/officeDocument" Target="/ppt/presentation.xml" Id="R4e763d8ae2334054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cc1a760a4666491c"/>
  </ns0:sldMasterIdLst>
  <ns0:sldIdLst>
    <ns0:sldId id="256" ns1:id="Rcd3cad99104e4dd7"/>
    <ns0:sldId id="257" ns1:id="Rd2c363007ceb4775"/>
    <ns0:sldId id="258" ns1:id="R301696bd72ec4f11"/>
  </ns0:sldIdLst>
  <ns0:sldSz cx="12192000" cy="68580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0a5c0c4322b74998" /><ns0:Relationship Type="http://schemas.openxmlformats.org/officeDocument/2006/relationships/slideMaster" Target="/ppt/slideMasters/slideMaster1.xml" Id="Rcc1a760a4666491c" /><ns0:Relationship Type="http://schemas.openxmlformats.org/officeDocument/2006/relationships/presProps" Target="/ppt/presProps.xml" Id="R2a635677c66c494e" /><ns0:Relationship Type="http://schemas.openxmlformats.org/officeDocument/2006/relationships/tableStyles" Target="/ppt/tableStyles.xml" Id="R431ad406fe1f41d8" /><ns0:Relationship Type="http://schemas.openxmlformats.org/officeDocument/2006/relationships/slide" Target="/ppt/slides/slide1.xml" Id="Rcd3cad99104e4dd7" /><ns0:Relationship Type="http://schemas.openxmlformats.org/officeDocument/2006/relationships/slide" Target="/ppt/slides/slide2.xml" Id="Rd2c363007ceb4775" /><ns0:Relationship Type="http://schemas.openxmlformats.org/officeDocument/2006/relationships/slide" Target="/ppt/slides/slide3.xml" Id="R301696bd72ec4f11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1a6aee7a8e41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33effb57cc4a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de8aeb6ef145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5392432524f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d12d823cf4c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25ea38fe3842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BB864C-5582-4D5A-B07C-901D57C076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7D47BE1-24F5-45D2-A265-FF878F5F49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F187EF-B2CD-454D-B1C4-4DA4E78644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B5220D-C35E-4F59-8F96-43F671BD36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2656FF-AC12-49DA-98E5-E97F1CCAC1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5366B3-9A62-4EDF-ABE3-D3278A71DD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BC37C2-5754-4795-825D-FC1B113CFA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4B9117-7F10-40C8-959B-0C5CB6B855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6BE4C5-6637-4F3A-8E7F-6512FF4110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818177-C2EF-47D7-8765-F5BAB359D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8526daa83846b1" /><Relationship Type="http://schemas.openxmlformats.org/officeDocument/2006/relationships/slideLayout" Target="/ppt/slideLayouts/slideLayout1.xml" Id="R6535a694ed2e45a8" /><Relationship Type="http://schemas.openxmlformats.org/officeDocument/2006/relationships/slideLayout" Target="/ppt/slideLayouts/slideLayout2.xml" Id="R9c798e11b8504cbb" /><Relationship Type="http://schemas.openxmlformats.org/officeDocument/2006/relationships/slideLayout" Target="/ppt/slideLayouts/slideLayout3.xml" Id="Red242cb8cbb343f2" /><Relationship Type="http://schemas.openxmlformats.org/officeDocument/2006/relationships/slideLayout" Target="/ppt/slideLayouts/slideLayout4.xml" Id="Rd4e0c462d08445a1" /><Relationship Type="http://schemas.openxmlformats.org/officeDocument/2006/relationships/slideLayout" Target="/ppt/slideLayouts/slideLayout5.xml" Id="R3ef1eb2ea0fa4700" /><Relationship Type="http://schemas.openxmlformats.org/officeDocument/2006/relationships/slideLayout" Target="/ppt/slideLayouts/slideLayout6.xml" Id="R919828facd154b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35a694ed2e45a8"/>
    <p:sldLayoutId xmlns:r="http://schemas.openxmlformats.org/officeDocument/2006/relationships" id="2147483650" r:id="R9c798e11b8504cbb"/>
    <p:sldLayoutId xmlns:r="http://schemas.openxmlformats.org/officeDocument/2006/relationships" id="2147483651" r:id="Red242cb8cbb343f2"/>
    <p:sldLayoutId xmlns:r="http://schemas.openxmlformats.org/officeDocument/2006/relationships" id="2147483652" r:id="Rd4e0c462d08445a1"/>
    <p:sldLayoutId xmlns:r="http://schemas.openxmlformats.org/officeDocument/2006/relationships" id="2147483653" r:id="R3ef1eb2ea0fa4700"/>
    <p:sldLayoutId xmlns:r="http://schemas.openxmlformats.org/officeDocument/2006/relationships" id="2147483654" r:id="R919828facd154b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8f7f992425764b96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62647963a2f94b29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a0af27b3889d44aa" /></ns0: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31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E220F-D225-493C-9CAB-CAFB290E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F7F8F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7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7F8F2"/>
                </a:solidFill>
                <a:latin typeface="Helvetica Neue"/>
                <a:ea typeface="Helvetica Neue"/>
                <a:cs typeface="Helvetica Neue"/>
              </a:rPr>
              <a:t>Prism and the problem it solves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D644A-BEFC-45AD-A6EA-FBAFCF32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D5EFA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5EF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5EFA2"/>
                </a:solidFill>
                <a:latin typeface="Helvetica Neue"/>
                <a:ea typeface="Helvetica Neue"/>
                <a:cs typeface="Helvetica Neue"/>
              </a:rPr>
              <a:t>PRISM   / 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E6EF8-AFCB-4844-BDBF-D1C38700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D5EFA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D5EF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D5EFA2"/>
                </a:solidFill>
                <a:latin typeface="Helvetica Neue"/>
                <a:ea typeface="Helvetica Neue"/>
                <a:cs typeface="Helvetica Neue"/>
              </a:rPr>
              <a:t>A local web app for checking</a:t>
            </a:r>
          </a:p>
          <a:p xmlns:a="http://schemas.openxmlformats.org/drawingml/2006/main">
            <a:pPr>
              <a:defRPr sz="3300" b="1">
                <a:solidFill>
                  <a:srgbClr val="D5EF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D5EFA2"/>
                </a:solidFill>
                <a:latin typeface="Helvetica Neue"/>
                <a:ea typeface="Helvetica Neue"/>
                <a:cs typeface="Helvetica Neue"/>
              </a:rPr>
              <a:t>marketing performance claims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A4463-B1BD-4828-B303-C7C2821E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D5EFA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D5EF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5EFA2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A34E0-331F-4C8C-93C5-CCCC8125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F7F8F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7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7F8F2"/>
                </a:solidFill>
                <a:latin typeface="Helvetica Neue"/>
                <a:ea typeface="Helvetica Neue"/>
                <a:cs typeface="Helvetica Neue"/>
              </a:rPr>
              <a:t>An overall average can hide declining results</a:t>
            </a:r>
          </a:p>
          <a:p xmlns:a="http://schemas.openxmlformats.org/drawingml/2006/main">
            <a:pPr>
              <a:defRPr sz="2550" b="0">
                <a:solidFill>
                  <a:srgbClr val="F7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7F8F2"/>
                </a:solidFill>
                <a:latin typeface="Helvetica Neue"/>
                <a:ea typeface="Helvetica Neue"/>
                <a:cs typeface="Helvetica Neue"/>
              </a:rPr>
              <a:t>within individual customer groups.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2470E-360D-4005-BAE7-14436260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7F8F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7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7F8F2"/>
                </a:solidFill>
                <a:latin typeface="Helvetica Neue"/>
                <a:ea typeface="Helvetica Neue"/>
                <a:cs typeface="Helvetica Neue"/>
              </a:rPr>
              <a:t>Prism shows the evidence behind the claim before a budget decision.</a:t>
            </a:r>
          </a:p>
        </p:txBody>
      </p:sp>
    </p:spTree>
    <p:extLst>
      <p:ext uri="{BB962C8B-B14F-4D97-AF65-F5344CB8AC3E}">
        <p14:creationId xmlns:p14="http://schemas.microsoft.com/office/powerpoint/2010/main" val="429124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89BC7-01E1-4011-89B8-1A4CB86C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rPr>
              <a:t>A campaign that looks successful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C07EF-58C3-4DFA-8911-B2C7B9D1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4645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464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46459"/>
                </a:solidFill>
                <a:latin typeface="Helvetica Neue"/>
                <a:ea typeface="Helvetica Neue"/>
                <a:cs typeface="Helvetica Neue"/>
              </a:rPr>
              <a:t>PRISM   / 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C2AB6-07A8-413C-A24E-2857BD9C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rPr>
              <a:t>A manager sees growth and considers a larger budget.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6EA6E-1213-4389-8228-060FBBB38A83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08204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2457450"/>
                <a:gridCol w="2457450"/>
              </a:tblGrid>
              <a:tr h="5619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7F8F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Conversion rate</a:t>
                      </a:r>
                    </a:p>
                  </a:txBody>
                  <a:tcPr marL="91440" marR="91440" marT="45720" marB="45720">
                    <a:solidFill>
                      <a:srgbClr val="2431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7F8F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Before</a:t>
                      </a:r>
                    </a:p>
                  </a:txBody>
                  <a:tcPr marL="91440" marR="91440" marT="45720" marB="45720">
                    <a:solidFill>
                      <a:srgbClr val="2431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7F8F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After</a:t>
                      </a:r>
                    </a:p>
                  </a:txBody>
                  <a:tcPr marL="91440" marR="91440" marT="45720" marB="45720">
                    <a:solidFill>
                      <a:srgbClr val="243129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1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Overall</a:t>
                      </a:r>
                    </a:p>
                  </a:txBody>
                  <a:tcPr marL="91440" marR="91440" marT="45720" marB="45720">
                    <a:solidFill>
                      <a:srgbClr val="E4EE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1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E4EE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1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45.6%</a:t>
                      </a:r>
                    </a:p>
                  </a:txBody>
                  <a:tcPr marL="91440" marR="91440" marT="45720" marB="45720">
                    <a:solidFill>
                      <a:srgbClr val="E4EED9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1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customers</a:t>
                      </a:r>
                    </a:p>
                  </a:txBody>
                  <a:tcPr marL="91440" marR="91440" marT="45720" marB="45720">
                    <a:solidFill>
                      <a:srgbClr val="F7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1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10%</a:t>
                      </a:r>
                    </a:p>
                  </a:txBody>
                  <a:tcPr marL="91440" marR="91440" marT="45720" marB="45720">
                    <a:solidFill>
                      <a:srgbClr val="F7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1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F7F8F2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1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Returning customers</a:t>
                      </a:r>
                    </a:p>
                  </a:txBody>
                  <a:tcPr marL="91440" marR="91440" marT="45720" marB="45720">
                    <a:solidFill>
                      <a:srgbClr val="F7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1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60%</a:t>
                      </a:r>
                    </a:p>
                  </a:txBody>
                  <a:tcPr marL="91440" marR="91440" marT="45720" marB="45720">
                    <a:solidFill>
                      <a:srgbClr val="F7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1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55%</a:t>
                      </a:r>
                    </a:p>
                  </a:txBody>
                  <a:tcPr marL="91440" marR="91440" marT="45720" marB="45720">
                    <a:solidFill>
                      <a:srgbClr val="F7F8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8E0FE-517D-4828-A1B5-4905C730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rPr>
              <a:t>What changed? More visitors were returning customers.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9315E-1202-446B-8A06-71060FDF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4645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464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459"/>
                </a:solidFill>
                <a:latin typeface="Helvetica Neue"/>
                <a:ea typeface="Helvetica Neue"/>
                <a:cs typeface="Helvetica Neue"/>
              </a:rPr>
              <a:t>Their share of the audience rose from 20% to 80%.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F77B4-91F6-4A43-AE0B-15CFD266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3246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4645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464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46459"/>
                </a:solidFill>
                <a:latin typeface="Helvetica Neue"/>
                <a:ea typeface="Helvetica Neue"/>
                <a:cs typeface="Helvetica Neue"/>
              </a:rPr>
              <a:t>Synthetic demonstration data</a:t>
            </a:r>
          </a:p>
        </p:txBody>
      </p:sp>
    </p:spTree>
    <p:extLst>
      <p:ext uri="{BB962C8B-B14F-4D97-AF65-F5344CB8AC3E}">
        <p14:creationId xmlns:p14="http://schemas.microsoft.com/office/powerpoint/2010/main" val="1692439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577C3-1877-4BF4-9331-33F8FFD5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rPr>
              <a:t>How Prism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1A07B-BC81-45AE-B886-3D766CB8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4645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464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46459"/>
                </a:solidFill>
                <a:latin typeface="Helvetica Neue"/>
                <a:ea typeface="Helvetica Neue"/>
                <a:cs typeface="Helvetica Neue"/>
              </a:rPr>
              <a:t>PRISM   / 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D38AB-A0FB-43E1-905F-3C3C01F1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rPr>
              <a:t>React and TypeScript interface running in your browser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F95DC-5F4F-4C1A-AB9E-7243D13D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9431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1F5E3-DE57-455B-8607-2968A4C8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695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rPr>
              <a:t>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A877A-BC4D-4767-941B-8AEC624B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1695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rPr>
              <a:t>CSV or sample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E11FD-5A2F-489A-8BE7-DBE8AB7D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0515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645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46823-BD45-4D44-84B9-B501A423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62225"/>
            <a:ext cx="19431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D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68D71-E463-4EE3-BB12-C1FA5D15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695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F12F7-BA62-45AE-9A08-B7B55354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86125"/>
            <a:ext cx="1695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rPr>
              <a:t>Columns and counts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E0A2C-47DD-46CF-9BD7-28738A69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0515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645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1A745-9052-4ACB-AEC7-770571F6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62225"/>
            <a:ext cx="19431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E298C-EA23-4B41-A4E6-15043A17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1695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rPr>
              <a:t>Calculate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6AD11-324E-462C-BBE3-B2735A0D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86125"/>
            <a:ext cx="1695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rPr>
              <a:t>Rates and audience mix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6F392-AF31-4A32-AA85-5BD961EC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645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AF74F-EE95-4554-A868-BC41C0BD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62225"/>
            <a:ext cx="19431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D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29366-66CE-40A9-A0BF-7356CE29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43200"/>
            <a:ext cx="1695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3129"/>
                </a:solidFill>
                <a:latin typeface="Helvetica Neue"/>
                <a:ea typeface="Helvetica Neue"/>
                <a:cs typeface="Helvetica Neue"/>
              </a:rP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84D9F-6EB6-4906-AB6D-9454C6B1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86125"/>
            <a:ext cx="1695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rPr>
              <a:t>Selected claim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446F38-32E0-4EDF-8858-4BD67CA9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0515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645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DD1AFC-29A3-4721-81DC-97CD6939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62225"/>
            <a:ext cx="19431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2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6BDD92-185B-4534-A21B-81931F4B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43200"/>
            <a:ext cx="1695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F7F8F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7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7F8F2"/>
                </a:solidFill>
                <a:latin typeface="Helvetica Neue"/>
                <a:ea typeface="Helvetica Neue"/>
                <a:cs typeface="Helvetica Neue"/>
              </a:rPr>
              <a:t>Present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92FDA-ECEB-4327-86BD-32791B72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86125"/>
            <a:ext cx="1695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F7F8F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7F8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7F8F2"/>
                </a:solidFill>
                <a:latin typeface="Helvetica Neue"/>
                <a:ea typeface="Helvetica Neue"/>
                <a:cs typeface="Helvetica Neue"/>
              </a:rPr>
              <a:t>Charts and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062CB-F7A9-44C7-88C3-61A2A3E1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43129"/>
                </a:solidFill>
                <a:latin typeface="Helvetica Neue"/>
                <a:ea typeface="Helvetica Neue"/>
                <a:cs typeface="Helvetica Neue"/>
              </a:rPr>
              <a:t>Sandbox edits reuse the calculations. Evaluation checks 12 reference cases.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DD22E9-ABEB-41C6-A0C7-5DFB7A35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4645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464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459"/>
                </a:solidFill>
                <a:latin typeface="Helvetica Neue"/>
                <a:ea typeface="Helvetica Neue"/>
                <a:cs typeface="Helvetica Neue"/>
              </a:rPr>
              <a:t>Built with Codex assistance. No paid APIs or live AI model.</a:t>
            </a:r>
          </a:p>
        </p:txBody>
      </p:sp>
    </p:spTree>
    <p:extLst>
      <p:ext uri="{BB962C8B-B14F-4D97-AF65-F5344CB8AC3E}">
        <p14:creationId xmlns:p14="http://schemas.microsoft.com/office/powerpoint/2010/main" val="524919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2026-10-11T18:19:30.8390000Z</dcterms:created>
  <dcterms:modified xsi:type="dcterms:W3CDTF">2026-10-11T18:19:30.8390000Z</dcterms:modified>
</coreProperties>
</file>